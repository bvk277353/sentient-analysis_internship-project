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312" r:id="rId2"/>
    <p:sldId id="293" r:id="rId3"/>
    <p:sldId id="300" r:id="rId4"/>
    <p:sldId id="301" r:id="rId5"/>
    <p:sldId id="329" r:id="rId6"/>
    <p:sldId id="328" r:id="rId7"/>
    <p:sldId id="317" r:id="rId8"/>
    <p:sldId id="277" r:id="rId9"/>
    <p:sldId id="334" r:id="rId10"/>
    <p:sldId id="332" r:id="rId11"/>
    <p:sldId id="335" r:id="rId12"/>
    <p:sldId id="333" r:id="rId13"/>
    <p:sldId id="337" r:id="rId14"/>
    <p:sldId id="336" r:id="rId15"/>
    <p:sldId id="338" r:id="rId16"/>
    <p:sldId id="314" r:id="rId17"/>
    <p:sldId id="318" r:id="rId18"/>
    <p:sldId id="327" r:id="rId19"/>
    <p:sldId id="319" r:id="rId20"/>
    <p:sldId id="323" r:id="rId21"/>
    <p:sldId id="320" r:id="rId22"/>
    <p:sldId id="321" r:id="rId23"/>
    <p:sldId id="290" r:id="rId24"/>
    <p:sldId id="330" r:id="rId25"/>
    <p:sldId id="313" r:id="rId26"/>
    <p:sldId id="315" r:id="rId27"/>
    <p:sldId id="324" r:id="rId28"/>
    <p:sldId id="325" r:id="rId29"/>
    <p:sldId id="316" r:id="rId30"/>
    <p:sldId id="331" r:id="rId3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00"/>
    <a:srgbClr val="00CC99"/>
    <a:srgbClr val="FFFFFF"/>
    <a:srgbClr val="FBFCF9"/>
    <a:srgbClr val="FDFD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84" autoAdjust="0"/>
    <p:restoredTop sz="94434" autoAdjust="0"/>
  </p:normalViewPr>
  <p:slideViewPr>
    <p:cSldViewPr snapToGrid="0">
      <p:cViewPr varScale="1">
        <p:scale>
          <a:sx n="92" d="100"/>
          <a:sy n="92" d="100"/>
        </p:scale>
        <p:origin x="86" y="158"/>
      </p:cViewPr>
      <p:guideLst>
        <p:guide orient="horz" pos="2160"/>
        <p:guide pos="3839"/>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900E755-2088-8245-23DD-F0F1E1ED042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3928253D-3B40-A5C1-B2B3-F27AC67ADAE7}"/>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D4F1452B-6A61-4BD1-BE25-6DBEA3EDEBFD}" type="datetimeFigureOut">
              <a:rPr lang="en-US"/>
              <a:pPr>
                <a:defRPr/>
              </a:pPr>
              <a:t>10/29/2025</a:t>
            </a:fld>
            <a:endParaRPr lang="en-US"/>
          </a:p>
        </p:txBody>
      </p:sp>
      <p:sp>
        <p:nvSpPr>
          <p:cNvPr id="4" name="Slide Image Placeholder 3">
            <a:extLst>
              <a:ext uri="{FF2B5EF4-FFF2-40B4-BE49-F238E27FC236}">
                <a16:creationId xmlns:a16="http://schemas.microsoft.com/office/drawing/2014/main" id="{4E46E159-8856-1637-7C7F-BCDEF061F94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939D4B0-5F69-6565-22E7-06DE63749D2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F079542E-0FC3-347C-B8A4-D9D69BD15DD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26356F78-499D-E975-AE0E-4B3776AB511A}"/>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anose="020F0502020204030204" pitchFamily="34" charset="0"/>
              </a:defRPr>
            </a:lvl1pPr>
          </a:lstStyle>
          <a:p>
            <a:pPr>
              <a:defRPr/>
            </a:pPr>
            <a:fld id="{9EF8A040-B745-45A1-9EA3-CCE096194C2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a:extLst>
              <a:ext uri="{FF2B5EF4-FFF2-40B4-BE49-F238E27FC236}">
                <a16:creationId xmlns:a16="http://schemas.microsoft.com/office/drawing/2014/main" id="{939AC296-64D6-04FA-CD98-5A514CB1C00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Notes Placeholder 2">
            <a:extLst>
              <a:ext uri="{FF2B5EF4-FFF2-40B4-BE49-F238E27FC236}">
                <a16:creationId xmlns:a16="http://schemas.microsoft.com/office/drawing/2014/main" id="{38763E81-BABF-413B-6AB9-8A219F359FB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4100" name="Slide Number Placeholder 3">
            <a:extLst>
              <a:ext uri="{FF2B5EF4-FFF2-40B4-BE49-F238E27FC236}">
                <a16:creationId xmlns:a16="http://schemas.microsoft.com/office/drawing/2014/main" id="{11BBA7C4-983B-20EA-3E16-E440F76F0C7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A00BB0B-D8F1-4488-B0EF-52FE199B2F24}" type="slidenum">
              <a:rPr lang="en-US" altLang="en-US">
                <a:latin typeface="Calibri" panose="020F0502020204030204" pitchFamily="34" charset="0"/>
              </a:rPr>
              <a:pPr/>
              <a:t>1</a:t>
            </a:fld>
            <a:endParaRPr lang="en-US"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83A9E6F4-40D0-BC3B-DC5A-0597F276570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a:extLst>
              <a:ext uri="{FF2B5EF4-FFF2-40B4-BE49-F238E27FC236}">
                <a16:creationId xmlns:a16="http://schemas.microsoft.com/office/drawing/2014/main" id="{1899FB8C-FFA6-A089-D8DA-A54F6808DD6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7172" name="Slide Number Placeholder 3">
            <a:extLst>
              <a:ext uri="{FF2B5EF4-FFF2-40B4-BE49-F238E27FC236}">
                <a16:creationId xmlns:a16="http://schemas.microsoft.com/office/drawing/2014/main" id="{AB8A30F5-348C-1903-58EE-58618EF5E9D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B08DAE1-C59E-4FA6-B63E-342A4C86B9AA}" type="slidenum">
              <a:rPr lang="en-US" altLang="en-US">
                <a:latin typeface="Calibri" panose="020F0502020204030204" pitchFamily="34" charset="0"/>
              </a:rPr>
              <a:pPr/>
              <a:t>3</a:t>
            </a:fld>
            <a:endParaRPr lang="en-US" altLang="en-US">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EEFC8B9D-EC04-C086-6D38-2140A06F1745}"/>
              </a:ext>
            </a:extLst>
          </p:cNvPr>
          <p:cNvSpPr>
            <a:spLocks noGrp="1" noRot="1" noChangeAspect="1" noTextEdit="1"/>
          </p:cNvSpPr>
          <p:nvPr>
            <p:ph type="sldImg" idx="2"/>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Text Placeholder 2">
            <a:extLst>
              <a:ext uri="{FF2B5EF4-FFF2-40B4-BE49-F238E27FC236}">
                <a16:creationId xmlns:a16="http://schemas.microsoft.com/office/drawing/2014/main" id="{42894F19-0E3E-2DD9-4345-D57733AEF6EB}"/>
              </a:ext>
            </a:extLst>
          </p:cNvPr>
          <p:cNvSpPr>
            <a:spLocks noGrp="1"/>
          </p:cNvSpPr>
          <p:nvPr>
            <p:ph type="body" idx="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CACF8AA-A43F-7110-8663-3397D6F5677F}"/>
              </a:ext>
            </a:extLst>
          </p:cNvPr>
          <p:cNvSpPr>
            <a:spLocks noGrp="1"/>
          </p:cNvSpPr>
          <p:nvPr>
            <p:ph type="dt" sz="half" idx="10"/>
          </p:nvPr>
        </p:nvSpPr>
        <p:spPr/>
        <p:txBody>
          <a:bodyPr/>
          <a:lstStyle>
            <a:lvl1pPr>
              <a:defRPr/>
            </a:lvl1pPr>
          </a:lstStyle>
          <a:p>
            <a:pPr>
              <a:defRPr/>
            </a:pPr>
            <a:fld id="{F52C99EC-3072-49C0-8E6E-477C073C6C82}" type="datetimeFigureOut">
              <a:rPr lang="en-US"/>
              <a:pPr>
                <a:defRPr/>
              </a:pPr>
              <a:t>10/29/2025</a:t>
            </a:fld>
            <a:endParaRPr lang="en-US" dirty="0"/>
          </a:p>
        </p:txBody>
      </p:sp>
      <p:sp>
        <p:nvSpPr>
          <p:cNvPr id="5" name="Footer Placeholder 4">
            <a:extLst>
              <a:ext uri="{FF2B5EF4-FFF2-40B4-BE49-F238E27FC236}">
                <a16:creationId xmlns:a16="http://schemas.microsoft.com/office/drawing/2014/main" id="{DB7ED98D-71D0-3944-787D-84545C41103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72998CD-53F0-E369-7AEB-9BFE8FB40811}"/>
              </a:ext>
            </a:extLst>
          </p:cNvPr>
          <p:cNvSpPr>
            <a:spLocks noGrp="1"/>
          </p:cNvSpPr>
          <p:nvPr>
            <p:ph type="sldNum" sz="quarter" idx="12"/>
          </p:nvPr>
        </p:nvSpPr>
        <p:spPr/>
        <p:txBody>
          <a:bodyPr/>
          <a:lstStyle>
            <a:lvl1pPr>
              <a:defRPr/>
            </a:lvl1pPr>
          </a:lstStyle>
          <a:p>
            <a:pPr>
              <a:defRPr/>
            </a:pPr>
            <a:fld id="{945A4768-60CE-4A4B-8C62-9E22AEF62E03}" type="slidenum">
              <a:rPr lang="en-US" altLang="en-US"/>
              <a:pPr>
                <a:defRPr/>
              </a:pPr>
              <a:t>‹#›</a:t>
            </a:fld>
            <a:endParaRPr lang="en-US" altLang="en-US"/>
          </a:p>
        </p:txBody>
      </p:sp>
    </p:spTree>
    <p:extLst>
      <p:ext uri="{BB962C8B-B14F-4D97-AF65-F5344CB8AC3E}">
        <p14:creationId xmlns:p14="http://schemas.microsoft.com/office/powerpoint/2010/main" val="2309990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A6334E-856F-CFA4-0F84-8410E0C30884}"/>
              </a:ext>
            </a:extLst>
          </p:cNvPr>
          <p:cNvSpPr>
            <a:spLocks noGrp="1"/>
          </p:cNvSpPr>
          <p:nvPr>
            <p:ph type="dt" sz="half" idx="10"/>
          </p:nvPr>
        </p:nvSpPr>
        <p:spPr/>
        <p:txBody>
          <a:bodyPr/>
          <a:lstStyle>
            <a:lvl1pPr>
              <a:defRPr/>
            </a:lvl1pPr>
          </a:lstStyle>
          <a:p>
            <a:pPr>
              <a:defRPr/>
            </a:pPr>
            <a:fld id="{B88416A5-A1A4-4468-BF7E-E73D231008D8}" type="datetimeFigureOut">
              <a:rPr lang="en-US"/>
              <a:pPr>
                <a:defRPr/>
              </a:pPr>
              <a:t>10/29/2025</a:t>
            </a:fld>
            <a:endParaRPr lang="en-US" dirty="0"/>
          </a:p>
        </p:txBody>
      </p:sp>
      <p:sp>
        <p:nvSpPr>
          <p:cNvPr id="5" name="Footer Placeholder 4">
            <a:extLst>
              <a:ext uri="{FF2B5EF4-FFF2-40B4-BE49-F238E27FC236}">
                <a16:creationId xmlns:a16="http://schemas.microsoft.com/office/drawing/2014/main" id="{AA1E153B-EBDF-6530-177C-2BE1FD1C8E9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61F6861-F844-0913-53D5-43463F135A58}"/>
              </a:ext>
            </a:extLst>
          </p:cNvPr>
          <p:cNvSpPr>
            <a:spLocks noGrp="1"/>
          </p:cNvSpPr>
          <p:nvPr>
            <p:ph type="sldNum" sz="quarter" idx="12"/>
          </p:nvPr>
        </p:nvSpPr>
        <p:spPr/>
        <p:txBody>
          <a:bodyPr/>
          <a:lstStyle>
            <a:lvl1pPr>
              <a:defRPr/>
            </a:lvl1pPr>
          </a:lstStyle>
          <a:p>
            <a:pPr>
              <a:defRPr/>
            </a:pPr>
            <a:fld id="{15BF65DB-22BA-4B35-B872-7BF79F5F91D9}" type="slidenum">
              <a:rPr lang="en-US" altLang="en-US"/>
              <a:pPr>
                <a:defRPr/>
              </a:pPr>
              <a:t>‹#›</a:t>
            </a:fld>
            <a:endParaRPr lang="en-US" altLang="en-US"/>
          </a:p>
        </p:txBody>
      </p:sp>
    </p:spTree>
    <p:extLst>
      <p:ext uri="{BB962C8B-B14F-4D97-AF65-F5344CB8AC3E}">
        <p14:creationId xmlns:p14="http://schemas.microsoft.com/office/powerpoint/2010/main" val="2076277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5254E2-EC4A-2EDA-AED8-DBB44AE22EA2}"/>
              </a:ext>
            </a:extLst>
          </p:cNvPr>
          <p:cNvSpPr>
            <a:spLocks noGrp="1"/>
          </p:cNvSpPr>
          <p:nvPr>
            <p:ph type="dt" sz="half" idx="10"/>
          </p:nvPr>
        </p:nvSpPr>
        <p:spPr/>
        <p:txBody>
          <a:bodyPr/>
          <a:lstStyle>
            <a:lvl1pPr>
              <a:defRPr/>
            </a:lvl1pPr>
          </a:lstStyle>
          <a:p>
            <a:pPr>
              <a:defRPr/>
            </a:pPr>
            <a:fld id="{4EF4D8E7-76C2-4742-A60B-E84392DAEA28}" type="datetimeFigureOut">
              <a:rPr lang="en-US"/>
              <a:pPr>
                <a:defRPr/>
              </a:pPr>
              <a:t>10/29/2025</a:t>
            </a:fld>
            <a:endParaRPr lang="en-US" dirty="0"/>
          </a:p>
        </p:txBody>
      </p:sp>
      <p:sp>
        <p:nvSpPr>
          <p:cNvPr id="5" name="Footer Placeholder 4">
            <a:extLst>
              <a:ext uri="{FF2B5EF4-FFF2-40B4-BE49-F238E27FC236}">
                <a16:creationId xmlns:a16="http://schemas.microsoft.com/office/drawing/2014/main" id="{A72519E2-CA1B-ABC3-F410-BDA0BC0003D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4530949-2283-CE83-E006-570E252F7518}"/>
              </a:ext>
            </a:extLst>
          </p:cNvPr>
          <p:cNvSpPr>
            <a:spLocks noGrp="1"/>
          </p:cNvSpPr>
          <p:nvPr>
            <p:ph type="sldNum" sz="quarter" idx="12"/>
          </p:nvPr>
        </p:nvSpPr>
        <p:spPr/>
        <p:txBody>
          <a:bodyPr/>
          <a:lstStyle>
            <a:lvl1pPr>
              <a:defRPr/>
            </a:lvl1pPr>
          </a:lstStyle>
          <a:p>
            <a:pPr>
              <a:defRPr/>
            </a:pPr>
            <a:fld id="{09D98814-F520-4BB3-A669-D1227926470C}" type="slidenum">
              <a:rPr lang="en-US" altLang="en-US"/>
              <a:pPr>
                <a:defRPr/>
              </a:pPr>
              <a:t>‹#›</a:t>
            </a:fld>
            <a:endParaRPr lang="en-US" altLang="en-US"/>
          </a:p>
        </p:txBody>
      </p:sp>
    </p:spTree>
    <p:extLst>
      <p:ext uri="{BB962C8B-B14F-4D97-AF65-F5344CB8AC3E}">
        <p14:creationId xmlns:p14="http://schemas.microsoft.com/office/powerpoint/2010/main" val="418257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326C9D2E-F1C5-9BB6-8667-E10433DD5538}"/>
              </a:ext>
            </a:extLst>
          </p:cNvPr>
          <p:cNvSpPr>
            <a:spLocks noGrp="1"/>
          </p:cNvSpPr>
          <p:nvPr>
            <p:ph type="dt" sz="half" idx="10"/>
          </p:nvPr>
        </p:nvSpPr>
        <p:spPr/>
        <p:txBody>
          <a:bodyPr/>
          <a:lstStyle>
            <a:lvl1pPr>
              <a:defRPr/>
            </a:lvl1pPr>
          </a:lstStyle>
          <a:p>
            <a:pPr>
              <a:defRPr/>
            </a:pPr>
            <a:fld id="{6F2D369A-C994-4041-8286-87B17F048A7B}" type="datetimeFigureOut">
              <a:rPr lang="en-US"/>
              <a:pPr>
                <a:defRPr/>
              </a:pPr>
              <a:t>10/29/2025</a:t>
            </a:fld>
            <a:endParaRPr lang="en-US" dirty="0"/>
          </a:p>
        </p:txBody>
      </p:sp>
      <p:sp>
        <p:nvSpPr>
          <p:cNvPr id="6" name="Footer Placeholder 4">
            <a:extLst>
              <a:ext uri="{FF2B5EF4-FFF2-40B4-BE49-F238E27FC236}">
                <a16:creationId xmlns:a16="http://schemas.microsoft.com/office/drawing/2014/main" id="{66530081-256A-0796-1C2B-7118B8149EC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B9AFF68-3335-5AAA-10B5-03F7B03B7350}"/>
              </a:ext>
            </a:extLst>
          </p:cNvPr>
          <p:cNvSpPr>
            <a:spLocks noGrp="1"/>
          </p:cNvSpPr>
          <p:nvPr>
            <p:ph type="sldNum" sz="quarter" idx="12"/>
          </p:nvPr>
        </p:nvSpPr>
        <p:spPr/>
        <p:txBody>
          <a:bodyPr/>
          <a:lstStyle>
            <a:lvl1pPr>
              <a:defRPr/>
            </a:lvl1pPr>
          </a:lstStyle>
          <a:p>
            <a:pPr>
              <a:defRPr/>
            </a:pPr>
            <a:fld id="{30076362-2F2D-40C8-8429-C7857C682C45}" type="slidenum">
              <a:rPr lang="en-US" altLang="en-US"/>
              <a:pPr>
                <a:defRPr/>
              </a:pPr>
              <a:t>‹#›</a:t>
            </a:fld>
            <a:endParaRPr lang="en-US" altLang="en-US"/>
          </a:p>
        </p:txBody>
      </p:sp>
    </p:spTree>
    <p:extLst>
      <p:ext uri="{BB962C8B-B14F-4D97-AF65-F5344CB8AC3E}">
        <p14:creationId xmlns:p14="http://schemas.microsoft.com/office/powerpoint/2010/main" val="748103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4CCB6644-D929-F023-D126-0028653A20EB}"/>
              </a:ext>
            </a:extLst>
          </p:cNvPr>
          <p:cNvSpPr>
            <a:spLocks noGrp="1"/>
          </p:cNvSpPr>
          <p:nvPr>
            <p:ph type="dt" sz="half" idx="10"/>
          </p:nvPr>
        </p:nvSpPr>
        <p:spPr/>
        <p:txBody>
          <a:bodyPr/>
          <a:lstStyle>
            <a:lvl1pPr>
              <a:defRPr/>
            </a:lvl1pPr>
          </a:lstStyle>
          <a:p>
            <a:pPr>
              <a:defRPr/>
            </a:pPr>
            <a:fld id="{90DD940F-7ED3-4B4B-8CF3-A9813D429DAE}" type="datetimeFigureOut">
              <a:rPr lang="en-US"/>
              <a:pPr>
                <a:defRPr/>
              </a:pPr>
              <a:t>10/29/2025</a:t>
            </a:fld>
            <a:endParaRPr lang="en-US" dirty="0"/>
          </a:p>
        </p:txBody>
      </p:sp>
      <p:sp>
        <p:nvSpPr>
          <p:cNvPr id="8" name="Footer Placeholder 4">
            <a:extLst>
              <a:ext uri="{FF2B5EF4-FFF2-40B4-BE49-F238E27FC236}">
                <a16:creationId xmlns:a16="http://schemas.microsoft.com/office/drawing/2014/main" id="{D828A789-8020-4072-7827-736ABF2ED438}"/>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37985DFF-DABB-8441-B378-AEA36B66EF82}"/>
              </a:ext>
            </a:extLst>
          </p:cNvPr>
          <p:cNvSpPr>
            <a:spLocks noGrp="1"/>
          </p:cNvSpPr>
          <p:nvPr>
            <p:ph type="sldNum" sz="quarter" idx="12"/>
          </p:nvPr>
        </p:nvSpPr>
        <p:spPr/>
        <p:txBody>
          <a:bodyPr/>
          <a:lstStyle>
            <a:lvl1pPr>
              <a:defRPr/>
            </a:lvl1pPr>
          </a:lstStyle>
          <a:p>
            <a:pPr>
              <a:defRPr/>
            </a:pPr>
            <a:fld id="{034C535B-2EE6-45C2-8E98-E4553380988B}" type="slidenum">
              <a:rPr lang="en-US" altLang="en-US"/>
              <a:pPr>
                <a:defRPr/>
              </a:pPr>
              <a:t>‹#›</a:t>
            </a:fld>
            <a:endParaRPr lang="en-US" altLang="en-US"/>
          </a:p>
        </p:txBody>
      </p:sp>
    </p:spTree>
    <p:extLst>
      <p:ext uri="{BB962C8B-B14F-4D97-AF65-F5344CB8AC3E}">
        <p14:creationId xmlns:p14="http://schemas.microsoft.com/office/powerpoint/2010/main" val="3110238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A485251F-4D95-3AB8-ED8D-0FC3E41E0C14}"/>
              </a:ext>
            </a:extLst>
          </p:cNvPr>
          <p:cNvSpPr>
            <a:spLocks noGrp="1"/>
          </p:cNvSpPr>
          <p:nvPr>
            <p:ph type="dt" sz="half" idx="10"/>
          </p:nvPr>
        </p:nvSpPr>
        <p:spPr/>
        <p:txBody>
          <a:bodyPr/>
          <a:lstStyle>
            <a:lvl1pPr>
              <a:defRPr/>
            </a:lvl1pPr>
          </a:lstStyle>
          <a:p>
            <a:pPr>
              <a:defRPr/>
            </a:pPr>
            <a:fld id="{336A7999-C453-485A-BBEE-8BCB047FD969}" type="datetimeFigureOut">
              <a:rPr lang="en-US"/>
              <a:pPr>
                <a:defRPr/>
              </a:pPr>
              <a:t>10/29/2025</a:t>
            </a:fld>
            <a:endParaRPr lang="en-US" dirty="0"/>
          </a:p>
        </p:txBody>
      </p:sp>
      <p:sp>
        <p:nvSpPr>
          <p:cNvPr id="4" name="Footer Placeholder 4">
            <a:extLst>
              <a:ext uri="{FF2B5EF4-FFF2-40B4-BE49-F238E27FC236}">
                <a16:creationId xmlns:a16="http://schemas.microsoft.com/office/drawing/2014/main" id="{A1130375-7C58-7406-E615-46E004BF230B}"/>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B4D6A83B-F1BE-895D-1AD1-574A6A6BF88F}"/>
              </a:ext>
            </a:extLst>
          </p:cNvPr>
          <p:cNvSpPr>
            <a:spLocks noGrp="1"/>
          </p:cNvSpPr>
          <p:nvPr>
            <p:ph type="sldNum" sz="quarter" idx="12"/>
          </p:nvPr>
        </p:nvSpPr>
        <p:spPr/>
        <p:txBody>
          <a:bodyPr/>
          <a:lstStyle>
            <a:lvl1pPr>
              <a:defRPr/>
            </a:lvl1pPr>
          </a:lstStyle>
          <a:p>
            <a:pPr>
              <a:defRPr/>
            </a:pPr>
            <a:fld id="{EF8D7054-0AB8-4696-868B-3C927EBB4914}" type="slidenum">
              <a:rPr lang="en-US" altLang="en-US"/>
              <a:pPr>
                <a:defRPr/>
              </a:pPr>
              <a:t>‹#›</a:t>
            </a:fld>
            <a:endParaRPr lang="en-US" altLang="en-US"/>
          </a:p>
        </p:txBody>
      </p:sp>
    </p:spTree>
    <p:extLst>
      <p:ext uri="{BB962C8B-B14F-4D97-AF65-F5344CB8AC3E}">
        <p14:creationId xmlns:p14="http://schemas.microsoft.com/office/powerpoint/2010/main" val="1826893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02160C2-E143-8960-6328-1B8937B3100A}"/>
              </a:ext>
            </a:extLst>
          </p:cNvPr>
          <p:cNvSpPr>
            <a:spLocks noGrp="1"/>
          </p:cNvSpPr>
          <p:nvPr>
            <p:ph type="dt" sz="half" idx="10"/>
          </p:nvPr>
        </p:nvSpPr>
        <p:spPr/>
        <p:txBody>
          <a:bodyPr/>
          <a:lstStyle>
            <a:lvl1pPr>
              <a:defRPr/>
            </a:lvl1pPr>
          </a:lstStyle>
          <a:p>
            <a:pPr>
              <a:defRPr/>
            </a:pPr>
            <a:fld id="{88FB8DF7-6FB1-4CD3-AC33-7A6F5C5927C3}" type="datetimeFigureOut">
              <a:rPr lang="en-US"/>
              <a:pPr>
                <a:defRPr/>
              </a:pPr>
              <a:t>10/29/2025</a:t>
            </a:fld>
            <a:endParaRPr lang="en-US" dirty="0"/>
          </a:p>
        </p:txBody>
      </p:sp>
      <p:sp>
        <p:nvSpPr>
          <p:cNvPr id="3" name="Footer Placeholder 4">
            <a:extLst>
              <a:ext uri="{FF2B5EF4-FFF2-40B4-BE49-F238E27FC236}">
                <a16:creationId xmlns:a16="http://schemas.microsoft.com/office/drawing/2014/main" id="{42FA894E-AAAC-D46E-075D-AB6639F819AF}"/>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F01EB690-716C-3559-26F6-89E9CE320AD8}"/>
              </a:ext>
            </a:extLst>
          </p:cNvPr>
          <p:cNvSpPr>
            <a:spLocks noGrp="1"/>
          </p:cNvSpPr>
          <p:nvPr>
            <p:ph type="sldNum" sz="quarter" idx="12"/>
          </p:nvPr>
        </p:nvSpPr>
        <p:spPr/>
        <p:txBody>
          <a:bodyPr/>
          <a:lstStyle>
            <a:lvl1pPr>
              <a:defRPr/>
            </a:lvl1pPr>
          </a:lstStyle>
          <a:p>
            <a:pPr>
              <a:defRPr/>
            </a:pPr>
            <a:fld id="{D6B3528F-7668-4B6A-A4BB-F1C05F946326}" type="slidenum">
              <a:rPr lang="en-US" altLang="en-US"/>
              <a:pPr>
                <a:defRPr/>
              </a:pPr>
              <a:t>‹#›</a:t>
            </a:fld>
            <a:endParaRPr lang="en-US" altLang="en-US"/>
          </a:p>
        </p:txBody>
      </p:sp>
    </p:spTree>
    <p:extLst>
      <p:ext uri="{BB962C8B-B14F-4D97-AF65-F5344CB8AC3E}">
        <p14:creationId xmlns:p14="http://schemas.microsoft.com/office/powerpoint/2010/main" val="2712069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DC9E7BBB-EFE6-4DF1-7751-AA014F586B47}"/>
              </a:ext>
            </a:extLst>
          </p:cNvPr>
          <p:cNvSpPr>
            <a:spLocks noGrp="1"/>
          </p:cNvSpPr>
          <p:nvPr>
            <p:ph type="dt" sz="half" idx="10"/>
          </p:nvPr>
        </p:nvSpPr>
        <p:spPr/>
        <p:txBody>
          <a:bodyPr/>
          <a:lstStyle>
            <a:lvl1pPr>
              <a:defRPr/>
            </a:lvl1pPr>
          </a:lstStyle>
          <a:p>
            <a:pPr>
              <a:defRPr/>
            </a:pPr>
            <a:fld id="{5347838D-DF71-4E9E-A9F5-9A7A4E2E6D35}" type="datetimeFigureOut">
              <a:rPr lang="en-US"/>
              <a:pPr>
                <a:defRPr/>
              </a:pPr>
              <a:t>10/29/2025</a:t>
            </a:fld>
            <a:endParaRPr lang="en-US" dirty="0"/>
          </a:p>
        </p:txBody>
      </p:sp>
      <p:sp>
        <p:nvSpPr>
          <p:cNvPr id="6" name="Footer Placeholder 4">
            <a:extLst>
              <a:ext uri="{FF2B5EF4-FFF2-40B4-BE49-F238E27FC236}">
                <a16:creationId xmlns:a16="http://schemas.microsoft.com/office/drawing/2014/main" id="{379CC941-BD35-A612-BB04-944C9C12620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DF0C8AA-D43B-F6E6-8803-D5676B0B1592}"/>
              </a:ext>
            </a:extLst>
          </p:cNvPr>
          <p:cNvSpPr>
            <a:spLocks noGrp="1"/>
          </p:cNvSpPr>
          <p:nvPr>
            <p:ph type="sldNum" sz="quarter" idx="12"/>
          </p:nvPr>
        </p:nvSpPr>
        <p:spPr/>
        <p:txBody>
          <a:bodyPr/>
          <a:lstStyle>
            <a:lvl1pPr>
              <a:defRPr/>
            </a:lvl1pPr>
          </a:lstStyle>
          <a:p>
            <a:pPr>
              <a:defRPr/>
            </a:pPr>
            <a:fld id="{8225FDE7-22A5-4680-9BD0-5AC11CE56F4C}" type="slidenum">
              <a:rPr lang="en-US" altLang="en-US"/>
              <a:pPr>
                <a:defRPr/>
              </a:pPr>
              <a:t>‹#›</a:t>
            </a:fld>
            <a:endParaRPr lang="en-US" altLang="en-US"/>
          </a:p>
        </p:txBody>
      </p:sp>
    </p:spTree>
    <p:extLst>
      <p:ext uri="{BB962C8B-B14F-4D97-AF65-F5344CB8AC3E}">
        <p14:creationId xmlns:p14="http://schemas.microsoft.com/office/powerpoint/2010/main" val="3763408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4CC9ABE0-DD7C-8EC9-DE79-233CED29F348}"/>
              </a:ext>
            </a:extLst>
          </p:cNvPr>
          <p:cNvSpPr>
            <a:spLocks noGrp="1"/>
          </p:cNvSpPr>
          <p:nvPr>
            <p:ph type="dt" sz="half" idx="10"/>
          </p:nvPr>
        </p:nvSpPr>
        <p:spPr/>
        <p:txBody>
          <a:bodyPr/>
          <a:lstStyle>
            <a:lvl1pPr>
              <a:defRPr/>
            </a:lvl1pPr>
          </a:lstStyle>
          <a:p>
            <a:pPr>
              <a:defRPr/>
            </a:pPr>
            <a:fld id="{122B9E08-22EB-44EE-8997-349D1879438E}" type="datetimeFigureOut">
              <a:rPr lang="en-US"/>
              <a:pPr>
                <a:defRPr/>
              </a:pPr>
              <a:t>10/29/2025</a:t>
            </a:fld>
            <a:endParaRPr lang="en-US" dirty="0"/>
          </a:p>
        </p:txBody>
      </p:sp>
      <p:sp>
        <p:nvSpPr>
          <p:cNvPr id="6" name="Footer Placeholder 4">
            <a:extLst>
              <a:ext uri="{FF2B5EF4-FFF2-40B4-BE49-F238E27FC236}">
                <a16:creationId xmlns:a16="http://schemas.microsoft.com/office/drawing/2014/main" id="{99EF27F7-033C-42DC-4524-1074FA5B3E4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7395059-2B02-E8D2-D6B3-DC64184AF421}"/>
              </a:ext>
            </a:extLst>
          </p:cNvPr>
          <p:cNvSpPr>
            <a:spLocks noGrp="1"/>
          </p:cNvSpPr>
          <p:nvPr>
            <p:ph type="sldNum" sz="quarter" idx="12"/>
          </p:nvPr>
        </p:nvSpPr>
        <p:spPr/>
        <p:txBody>
          <a:bodyPr/>
          <a:lstStyle>
            <a:lvl1pPr>
              <a:defRPr/>
            </a:lvl1pPr>
          </a:lstStyle>
          <a:p>
            <a:pPr>
              <a:defRPr/>
            </a:pPr>
            <a:fld id="{4315A85D-9489-43DE-AAFB-37AF84BFB89F}" type="slidenum">
              <a:rPr lang="en-US" altLang="en-US"/>
              <a:pPr>
                <a:defRPr/>
              </a:pPr>
              <a:t>‹#›</a:t>
            </a:fld>
            <a:endParaRPr lang="en-US" altLang="en-US"/>
          </a:p>
        </p:txBody>
      </p:sp>
    </p:spTree>
    <p:extLst>
      <p:ext uri="{BB962C8B-B14F-4D97-AF65-F5344CB8AC3E}">
        <p14:creationId xmlns:p14="http://schemas.microsoft.com/office/powerpoint/2010/main" val="2668409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85FE82-4CE4-549A-E65E-5CDB3B5A6890}"/>
              </a:ext>
            </a:extLst>
          </p:cNvPr>
          <p:cNvSpPr>
            <a:spLocks noGrp="1"/>
          </p:cNvSpPr>
          <p:nvPr>
            <p:ph type="dt" sz="half" idx="10"/>
          </p:nvPr>
        </p:nvSpPr>
        <p:spPr/>
        <p:txBody>
          <a:bodyPr/>
          <a:lstStyle>
            <a:lvl1pPr>
              <a:defRPr/>
            </a:lvl1pPr>
          </a:lstStyle>
          <a:p>
            <a:pPr>
              <a:defRPr/>
            </a:pPr>
            <a:fld id="{1AFE5D85-D7B7-4710-B71A-CEE105B24146}" type="datetimeFigureOut">
              <a:rPr lang="en-US"/>
              <a:pPr>
                <a:defRPr/>
              </a:pPr>
              <a:t>10/29/2025</a:t>
            </a:fld>
            <a:endParaRPr lang="en-US" dirty="0"/>
          </a:p>
        </p:txBody>
      </p:sp>
      <p:sp>
        <p:nvSpPr>
          <p:cNvPr id="5" name="Footer Placeholder 4">
            <a:extLst>
              <a:ext uri="{FF2B5EF4-FFF2-40B4-BE49-F238E27FC236}">
                <a16:creationId xmlns:a16="http://schemas.microsoft.com/office/drawing/2014/main" id="{8147725F-85E6-FA09-6FB3-9954351FFE4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227053B-B570-D1AB-5603-E4C17D87A7F6}"/>
              </a:ext>
            </a:extLst>
          </p:cNvPr>
          <p:cNvSpPr>
            <a:spLocks noGrp="1"/>
          </p:cNvSpPr>
          <p:nvPr>
            <p:ph type="sldNum" sz="quarter" idx="12"/>
          </p:nvPr>
        </p:nvSpPr>
        <p:spPr/>
        <p:txBody>
          <a:bodyPr/>
          <a:lstStyle>
            <a:lvl1pPr>
              <a:defRPr/>
            </a:lvl1pPr>
          </a:lstStyle>
          <a:p>
            <a:pPr>
              <a:defRPr/>
            </a:pPr>
            <a:fld id="{3E94C86B-000B-4915-829F-0E1F5A0C8E12}" type="slidenum">
              <a:rPr lang="en-US" altLang="en-US"/>
              <a:pPr>
                <a:defRPr/>
              </a:pPr>
              <a:t>‹#›</a:t>
            </a:fld>
            <a:endParaRPr lang="en-US" altLang="en-US"/>
          </a:p>
        </p:txBody>
      </p:sp>
    </p:spTree>
    <p:extLst>
      <p:ext uri="{BB962C8B-B14F-4D97-AF65-F5344CB8AC3E}">
        <p14:creationId xmlns:p14="http://schemas.microsoft.com/office/powerpoint/2010/main" val="555838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09AEDA-6589-456E-60C8-B2CCF967B792}"/>
              </a:ext>
            </a:extLst>
          </p:cNvPr>
          <p:cNvSpPr>
            <a:spLocks noGrp="1"/>
          </p:cNvSpPr>
          <p:nvPr>
            <p:ph type="dt" sz="half" idx="10"/>
          </p:nvPr>
        </p:nvSpPr>
        <p:spPr/>
        <p:txBody>
          <a:bodyPr/>
          <a:lstStyle>
            <a:lvl1pPr>
              <a:defRPr/>
            </a:lvl1pPr>
          </a:lstStyle>
          <a:p>
            <a:pPr>
              <a:defRPr/>
            </a:pPr>
            <a:fld id="{6199AFB6-F3DC-46A3-9103-8E512C61F03A}" type="datetimeFigureOut">
              <a:rPr lang="en-US"/>
              <a:pPr>
                <a:defRPr/>
              </a:pPr>
              <a:t>10/29/2025</a:t>
            </a:fld>
            <a:endParaRPr lang="en-US" dirty="0"/>
          </a:p>
        </p:txBody>
      </p:sp>
      <p:sp>
        <p:nvSpPr>
          <p:cNvPr id="5" name="Footer Placeholder 4">
            <a:extLst>
              <a:ext uri="{FF2B5EF4-FFF2-40B4-BE49-F238E27FC236}">
                <a16:creationId xmlns:a16="http://schemas.microsoft.com/office/drawing/2014/main" id="{353F8275-D2DC-F854-098A-30647B6D7D8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7515B64-D8D0-69EE-6E99-2E940DBEDD21}"/>
              </a:ext>
            </a:extLst>
          </p:cNvPr>
          <p:cNvSpPr>
            <a:spLocks noGrp="1"/>
          </p:cNvSpPr>
          <p:nvPr>
            <p:ph type="sldNum" sz="quarter" idx="12"/>
          </p:nvPr>
        </p:nvSpPr>
        <p:spPr/>
        <p:txBody>
          <a:bodyPr/>
          <a:lstStyle>
            <a:lvl1pPr>
              <a:defRPr/>
            </a:lvl1pPr>
          </a:lstStyle>
          <a:p>
            <a:pPr>
              <a:defRPr/>
            </a:pPr>
            <a:fld id="{29D1DC0F-2462-4C83-99F3-E4A023436941}" type="slidenum">
              <a:rPr lang="en-US" altLang="en-US"/>
              <a:pPr>
                <a:defRPr/>
              </a:pPr>
              <a:t>‹#›</a:t>
            </a:fld>
            <a:endParaRPr lang="en-US" altLang="en-US"/>
          </a:p>
        </p:txBody>
      </p:sp>
    </p:spTree>
    <p:extLst>
      <p:ext uri="{BB962C8B-B14F-4D97-AF65-F5344CB8AC3E}">
        <p14:creationId xmlns:p14="http://schemas.microsoft.com/office/powerpoint/2010/main" val="2815971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79435554-B32B-9761-8D70-744CA331BA02}"/>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82CFBA3C-95ED-BD40-03E7-D8FE9C7DEAE6}"/>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B05505A-EB4A-9FC2-2ADE-CBECA856A5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cs typeface="+mn-cs"/>
              </a:defRPr>
            </a:lvl1pPr>
          </a:lstStyle>
          <a:p>
            <a:pPr>
              <a:defRPr/>
            </a:pPr>
            <a:fld id="{D1B39D0C-39C3-40FB-8D98-8460D7025271}" type="datetimeFigureOut">
              <a:rPr lang="en-US"/>
              <a:pPr>
                <a:defRPr/>
              </a:pPr>
              <a:t>10/29/2025</a:t>
            </a:fld>
            <a:endParaRPr lang="en-US" dirty="0"/>
          </a:p>
        </p:txBody>
      </p:sp>
      <p:sp>
        <p:nvSpPr>
          <p:cNvPr id="5" name="Footer Placeholder 4">
            <a:extLst>
              <a:ext uri="{FF2B5EF4-FFF2-40B4-BE49-F238E27FC236}">
                <a16:creationId xmlns:a16="http://schemas.microsoft.com/office/drawing/2014/main" id="{DE5843B0-D254-0927-B972-482D8471E2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5570FB4F-49E0-065A-65AF-EE9E8DA1B04E}"/>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latin typeface="Calibri" panose="020F0502020204030204" pitchFamily="34" charset="0"/>
              </a:defRPr>
            </a:lvl1pPr>
          </a:lstStyle>
          <a:p>
            <a:pPr>
              <a:defRPr/>
            </a:pPr>
            <a:fld id="{433A792A-45A2-40DA-965D-4065305AEDB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defRPr>
      </a:lvl2pPr>
      <a:lvl3pPr algn="l" rtl="0" eaLnBrk="0" fontAlgn="base" hangingPunct="0">
        <a:lnSpc>
          <a:spcPct val="90000"/>
        </a:lnSpc>
        <a:spcBef>
          <a:spcPct val="0"/>
        </a:spcBef>
        <a:spcAft>
          <a:spcPct val="0"/>
        </a:spcAft>
        <a:defRPr sz="4400">
          <a:solidFill>
            <a:schemeClr val="tx1"/>
          </a:solidFill>
          <a:latin typeface="Calibri Light" pitchFamily="34" charset="0"/>
        </a:defRPr>
      </a:lvl3pPr>
      <a:lvl4pPr algn="l" rtl="0" eaLnBrk="0" fontAlgn="base" hangingPunct="0">
        <a:lnSpc>
          <a:spcPct val="90000"/>
        </a:lnSpc>
        <a:spcBef>
          <a:spcPct val="0"/>
        </a:spcBef>
        <a:spcAft>
          <a:spcPct val="0"/>
        </a:spcAft>
        <a:defRPr sz="4400">
          <a:solidFill>
            <a:schemeClr val="tx1"/>
          </a:solidFill>
          <a:latin typeface="Calibri Light" pitchFamily="34" charset="0"/>
        </a:defRPr>
      </a:lvl4pPr>
      <a:lvl5pPr algn="l" rtl="0" eaLnBrk="0" fontAlgn="base" hangingPunct="0">
        <a:lnSpc>
          <a:spcPct val="90000"/>
        </a:lnSpc>
        <a:spcBef>
          <a:spcPct val="0"/>
        </a:spcBef>
        <a:spcAft>
          <a:spcPct val="0"/>
        </a:spcAft>
        <a:defRPr sz="4400">
          <a:solidFill>
            <a:schemeClr val="tx1"/>
          </a:solidFill>
          <a:latin typeface="Calibri Light" pitchFamily="34" charset="0"/>
        </a:defRPr>
      </a:lvl5pPr>
      <a:lvl6pPr marL="457200" algn="l" rtl="0" fontAlgn="base">
        <a:lnSpc>
          <a:spcPct val="90000"/>
        </a:lnSpc>
        <a:spcBef>
          <a:spcPct val="0"/>
        </a:spcBef>
        <a:spcAft>
          <a:spcPct val="0"/>
        </a:spcAft>
        <a:defRPr sz="4400">
          <a:solidFill>
            <a:schemeClr val="tx1"/>
          </a:solidFill>
          <a:latin typeface="Calibri Light" pitchFamily="34" charset="0"/>
        </a:defRPr>
      </a:lvl6pPr>
      <a:lvl7pPr marL="914400" algn="l" rtl="0" fontAlgn="base">
        <a:lnSpc>
          <a:spcPct val="90000"/>
        </a:lnSpc>
        <a:spcBef>
          <a:spcPct val="0"/>
        </a:spcBef>
        <a:spcAft>
          <a:spcPct val="0"/>
        </a:spcAft>
        <a:defRPr sz="4400">
          <a:solidFill>
            <a:schemeClr val="tx1"/>
          </a:solidFill>
          <a:latin typeface="Calibri Light" pitchFamily="34" charset="0"/>
        </a:defRPr>
      </a:lvl7pPr>
      <a:lvl8pPr marL="1371600" algn="l" rtl="0" fontAlgn="base">
        <a:lnSpc>
          <a:spcPct val="90000"/>
        </a:lnSpc>
        <a:spcBef>
          <a:spcPct val="0"/>
        </a:spcBef>
        <a:spcAft>
          <a:spcPct val="0"/>
        </a:spcAft>
        <a:defRPr sz="4400">
          <a:solidFill>
            <a:schemeClr val="tx1"/>
          </a:solidFill>
          <a:latin typeface="Calibri Light" pitchFamily="34" charset="0"/>
        </a:defRPr>
      </a:lvl8pPr>
      <a:lvl9pPr marL="1828800" algn="l" rtl="0" fontAlgn="base">
        <a:lnSpc>
          <a:spcPct val="90000"/>
        </a:lnSpc>
        <a:spcBef>
          <a:spcPct val="0"/>
        </a:spcBef>
        <a:spcAft>
          <a:spcPct val="0"/>
        </a:spcAft>
        <a:defRPr sz="4400">
          <a:solidFill>
            <a:schemeClr val="tx1"/>
          </a:solidFill>
          <a:latin typeface="Calibri Light"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hyperlink" Target="https://colab.research.google.com/drive/1TZ0KP-_Vhte9eLcfXl-L7lPcNnvAA0OU?usp=sharing" TargetMode="External"/><Relationship Id="rId2" Type="http://schemas.openxmlformats.org/officeDocument/2006/relationships/hyperlink" Target="https://docs.google.com/document/d/1hXjZIhnCCrmgAiRUMVIrYfOVoIv-bVYY/edit?usp=sharing&amp;ouid=105040385667351215763&amp;rtpof=true&amp;sd=true" TargetMode="Externa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28A8DB-034C-9D68-9E2C-9D0B97A6D86B}"/>
              </a:ext>
            </a:extLst>
          </p:cNvPr>
          <p:cNvSpPr txBox="1"/>
          <p:nvPr/>
        </p:nvSpPr>
        <p:spPr>
          <a:xfrm>
            <a:off x="754856" y="323070"/>
            <a:ext cx="10682287" cy="1015663"/>
          </a:xfrm>
          <a:prstGeom prst="rect">
            <a:avLst/>
          </a:prstGeom>
          <a:noFill/>
        </p:spPr>
        <p:txBody>
          <a:bodyPr>
            <a:spAutoFit/>
          </a:bodyPr>
          <a:lstStyle/>
          <a:p>
            <a:pPr algn="ctr" eaLnBrk="1" fontAlgn="auto" hangingPunct="1">
              <a:spcBef>
                <a:spcPts val="0"/>
              </a:spcBef>
              <a:spcAft>
                <a:spcPts val="0"/>
              </a:spcAft>
              <a:defRPr/>
            </a:pPr>
            <a:r>
              <a:rPr lang="en-US" sz="3200" b="1" dirty="0">
                <a:solidFill>
                  <a:schemeClr val="tx2">
                    <a:lumMod val="50000"/>
                  </a:schemeClr>
                </a:solidFill>
                <a:latin typeface="Times New Roman" panose="02020603050405020304" pitchFamily="18" charset="0"/>
                <a:cs typeface="Times New Roman" panose="02020603050405020304" pitchFamily="18" charset="0"/>
              </a:rPr>
              <a:t>Seshadri Rao </a:t>
            </a:r>
            <a:r>
              <a:rPr lang="en-US" sz="3200" b="1" dirty="0" err="1">
                <a:solidFill>
                  <a:schemeClr val="tx2">
                    <a:lumMod val="50000"/>
                  </a:schemeClr>
                </a:solidFill>
                <a:latin typeface="Times New Roman" panose="02020603050405020304" pitchFamily="18" charset="0"/>
                <a:cs typeface="Times New Roman" panose="02020603050405020304" pitchFamily="18" charset="0"/>
              </a:rPr>
              <a:t>Gudlavalleru</a:t>
            </a:r>
            <a:r>
              <a:rPr lang="en-US" sz="3200" b="1" dirty="0">
                <a:solidFill>
                  <a:schemeClr val="tx2">
                    <a:lumMod val="50000"/>
                  </a:schemeClr>
                </a:solidFill>
                <a:latin typeface="Times New Roman" panose="02020603050405020304" pitchFamily="18" charset="0"/>
                <a:cs typeface="Times New Roman" panose="02020603050405020304" pitchFamily="18" charset="0"/>
              </a:rPr>
              <a:t> Engineering College</a:t>
            </a:r>
            <a:br>
              <a:rPr lang="en-US" sz="4400" dirty="0">
                <a:solidFill>
                  <a:schemeClr val="tx2">
                    <a:lumMod val="50000"/>
                  </a:schemeClr>
                </a:solidFill>
                <a:latin typeface="Times New Roman" panose="02020603050405020304" pitchFamily="18" charset="0"/>
                <a:cs typeface="Times New Roman" panose="02020603050405020304" pitchFamily="18" charset="0"/>
              </a:rPr>
            </a:br>
            <a:r>
              <a:rPr lang="en-IN" sz="2800" dirty="0">
                <a:solidFill>
                  <a:schemeClr val="tx2">
                    <a:lumMod val="50000"/>
                  </a:schemeClr>
                </a:solidFill>
                <a:latin typeface="Times New Roman" panose="02020603050405020304" pitchFamily="18" charset="0"/>
                <a:cs typeface="Times New Roman" panose="02020603050405020304" pitchFamily="18" charset="0"/>
              </a:rPr>
              <a:t>Department of CSE (Artificial Intelligence &amp; Machine Learning)</a:t>
            </a:r>
            <a:endParaRPr lang="en-US" sz="2800"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3075" name="TextBox 3">
            <a:extLst>
              <a:ext uri="{FF2B5EF4-FFF2-40B4-BE49-F238E27FC236}">
                <a16:creationId xmlns:a16="http://schemas.microsoft.com/office/drawing/2014/main" id="{66A96EB5-33BA-EF96-FD7C-F37A62C29306}"/>
              </a:ext>
            </a:extLst>
          </p:cNvPr>
          <p:cNvSpPr txBox="1">
            <a:spLocks noChangeArrowheads="1"/>
          </p:cNvSpPr>
          <p:nvPr/>
        </p:nvSpPr>
        <p:spPr bwMode="auto">
          <a:xfrm>
            <a:off x="621853" y="2855759"/>
            <a:ext cx="10682287"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50000"/>
              </a:lnSpc>
              <a:spcBef>
                <a:spcPct val="0"/>
              </a:spcBef>
              <a:buFontTx/>
              <a:buNone/>
            </a:pPr>
            <a:r>
              <a:rPr lang="en-US" altLang="en-US" sz="2400" b="1" dirty="0">
                <a:latin typeface="Times New Roman" panose="02020603050405020304" pitchFamily="18" charset="0"/>
                <a:cs typeface="Times New Roman" panose="02020603050405020304" pitchFamily="18" charset="0"/>
              </a:rPr>
              <a:t>Sentiment Analysis for Review-Based Feedback Systems</a:t>
            </a:r>
          </a:p>
          <a:p>
            <a:pPr algn="ctr" eaLnBrk="1" hangingPunct="1">
              <a:lnSpc>
                <a:spcPct val="150000"/>
              </a:lnSpc>
              <a:spcBef>
                <a:spcPct val="0"/>
              </a:spcBef>
              <a:buFontTx/>
              <a:buNone/>
            </a:pPr>
            <a:r>
              <a:rPr lang="en-US" altLang="en-US" sz="1600" dirty="0">
                <a:latin typeface="Times New Roman" panose="02020603050405020304" pitchFamily="18" charset="0"/>
                <a:cs typeface="Times New Roman" panose="02020603050405020304" pitchFamily="18" charset="0"/>
              </a:rPr>
              <a:t>By</a:t>
            </a:r>
          </a:p>
          <a:p>
            <a:pPr eaLnBrk="1" hangingPunct="1">
              <a:lnSpc>
                <a:spcPct val="150000"/>
              </a:lnSpc>
              <a:spcBef>
                <a:spcPct val="0"/>
              </a:spcBef>
              <a:buFontTx/>
              <a:buNone/>
            </a:pPr>
            <a:r>
              <a:rPr lang="en-US" altLang="en-US" sz="1600" dirty="0">
                <a:latin typeface="Times New Roman" panose="02020603050405020304" pitchFamily="18" charset="0"/>
                <a:cs typeface="Times New Roman" panose="02020603050405020304" pitchFamily="18" charset="0"/>
              </a:rPr>
              <a:t>				             </a:t>
            </a:r>
            <a:r>
              <a:rPr lang="en-IN" altLang="en-US" sz="1400" dirty="0" err="1">
                <a:latin typeface="Times New Roman" panose="02020603050405020304" pitchFamily="18" charset="0"/>
                <a:cs typeface="Times New Roman" panose="02020603050405020304" pitchFamily="18" charset="0"/>
              </a:rPr>
              <a:t>Gujjula</a:t>
            </a:r>
            <a:r>
              <a:rPr lang="en-IN" altLang="en-US" sz="1400" dirty="0">
                <a:latin typeface="Times New Roman" panose="02020603050405020304" pitchFamily="18" charset="0"/>
                <a:cs typeface="Times New Roman" panose="02020603050405020304" pitchFamily="18" charset="0"/>
              </a:rPr>
              <a:t> Ramya(22481A4234)</a:t>
            </a:r>
          </a:p>
          <a:p>
            <a:pPr eaLnBrk="1" hangingPunct="1">
              <a:lnSpc>
                <a:spcPct val="150000"/>
              </a:lnSpc>
              <a:spcBef>
                <a:spcPct val="0"/>
              </a:spcBef>
              <a:buFontTx/>
              <a:buNone/>
            </a:pPr>
            <a:r>
              <a:rPr lang="en-IN" altLang="en-US" sz="1400" dirty="0">
                <a:latin typeface="Times New Roman" panose="02020603050405020304" pitchFamily="18" charset="0"/>
                <a:cs typeface="Times New Roman" panose="02020603050405020304" pitchFamily="18" charset="0"/>
              </a:rPr>
              <a:t>				      Doupati Bala Vardhan Kumar(22481A4230)</a:t>
            </a:r>
          </a:p>
          <a:p>
            <a:pPr eaLnBrk="1" hangingPunct="1">
              <a:lnSpc>
                <a:spcPct val="150000"/>
              </a:lnSpc>
              <a:spcBef>
                <a:spcPct val="0"/>
              </a:spcBef>
              <a:buFontTx/>
              <a:buNone/>
            </a:pPr>
            <a:r>
              <a:rPr lang="en-IN" altLang="en-US" sz="1400" dirty="0">
                <a:latin typeface="Times New Roman" panose="02020603050405020304" pitchFamily="18" charset="0"/>
                <a:cs typeface="Times New Roman" panose="02020603050405020304" pitchFamily="18" charset="0"/>
              </a:rPr>
              <a:t>				               Arja Sai Sree(22481A4208)</a:t>
            </a:r>
          </a:p>
          <a:p>
            <a:pPr eaLnBrk="1" hangingPunct="1">
              <a:lnSpc>
                <a:spcPct val="150000"/>
              </a:lnSpc>
              <a:spcBef>
                <a:spcPct val="0"/>
              </a:spcBef>
              <a:buFontTx/>
              <a:buNone/>
            </a:pPr>
            <a:r>
              <a:rPr lang="en-IN" altLang="en-US" sz="1400" dirty="0">
                <a:latin typeface="Times New Roman" panose="02020603050405020304" pitchFamily="18" charset="0"/>
                <a:cs typeface="Times New Roman" panose="02020603050405020304" pitchFamily="18" charset="0"/>
              </a:rPr>
              <a:t>				               Abdul Gafoor(23485A4201)</a:t>
            </a:r>
          </a:p>
          <a:p>
            <a:pPr eaLnBrk="1" hangingPunct="1">
              <a:lnSpc>
                <a:spcPct val="150000"/>
              </a:lnSpc>
              <a:spcBef>
                <a:spcPct val="0"/>
              </a:spcBef>
              <a:buFontTx/>
              <a:buNone/>
            </a:pPr>
            <a:endParaRPr lang="en-US" altLang="en-US" sz="1400" dirty="0">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r>
              <a:rPr lang="en-US" altLang="en-US" sz="1800" dirty="0">
                <a:latin typeface="Times New Roman" panose="02020603050405020304" pitchFamily="18" charset="0"/>
                <a:cs typeface="Times New Roman" panose="02020603050405020304" pitchFamily="18" charset="0"/>
              </a:rPr>
              <a:t>Under the guidance of</a:t>
            </a:r>
          </a:p>
          <a:p>
            <a:pPr algn="ctr" eaLnBrk="1" hangingPunct="1">
              <a:lnSpc>
                <a:spcPct val="100000"/>
              </a:lnSpc>
              <a:spcBef>
                <a:spcPct val="0"/>
              </a:spcBef>
              <a:buFontTx/>
              <a:buNone/>
            </a:pPr>
            <a:r>
              <a:rPr lang="en-US" altLang="en-US" sz="1600" b="1" dirty="0">
                <a:latin typeface="Times New Roman" panose="02020603050405020304" pitchFamily="18" charset="0"/>
                <a:cs typeface="Times New Roman" panose="02020603050405020304" pitchFamily="18" charset="0"/>
              </a:rPr>
              <a:t>Mr. K. AMRUTA SAGAR , </a:t>
            </a:r>
            <a:r>
              <a:rPr lang="en-US" altLang="en-US" sz="1100" b="1" dirty="0" err="1">
                <a:latin typeface="Times New Roman" panose="02020603050405020304" pitchFamily="18" charset="0"/>
                <a:cs typeface="Times New Roman" panose="02020603050405020304" pitchFamily="18" charset="0"/>
              </a:rPr>
              <a:t>M.Tech</a:t>
            </a:r>
            <a:endParaRPr lang="en-US" altLang="en-US" sz="1100" b="1" dirty="0">
              <a:latin typeface="Times New Roman" panose="02020603050405020304" pitchFamily="18" charset="0"/>
              <a:cs typeface="Times New Roman" panose="02020603050405020304" pitchFamily="18" charset="0"/>
            </a:endParaRPr>
          </a:p>
          <a:p>
            <a:pPr algn="ctr" eaLnBrk="1" hangingPunct="1">
              <a:lnSpc>
                <a:spcPct val="100000"/>
              </a:lnSpc>
              <a:spcBef>
                <a:spcPct val="0"/>
              </a:spcBef>
              <a:buFontTx/>
              <a:buNone/>
            </a:pPr>
            <a:r>
              <a:rPr lang="en-US" altLang="en-US" sz="1400" dirty="0">
                <a:latin typeface="Times New Roman" panose="02020603050405020304" pitchFamily="18" charset="0"/>
                <a:cs typeface="Times New Roman" panose="02020603050405020304" pitchFamily="18" charset="0"/>
              </a:rPr>
              <a:t>Assistant Professor , Dept of CSE(AI&amp;ML)</a:t>
            </a:r>
          </a:p>
        </p:txBody>
      </p:sp>
      <p:pic>
        <p:nvPicPr>
          <p:cNvPr id="3076" name="Picture 7">
            <a:extLst>
              <a:ext uri="{FF2B5EF4-FFF2-40B4-BE49-F238E27FC236}">
                <a16:creationId xmlns:a16="http://schemas.microsoft.com/office/drawing/2014/main" id="{175BDF60-CF91-75C7-3160-484E90F6B9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7041" y="1481296"/>
            <a:ext cx="1311910"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D4E52-5772-6FFF-6A8C-C29E5FADC02A}"/>
              </a:ext>
            </a:extLst>
          </p:cNvPr>
          <p:cNvSpPr>
            <a:spLocks noGrp="1"/>
          </p:cNvSpPr>
          <p:nvPr>
            <p:ph type="ctrTitle"/>
          </p:nvPr>
        </p:nvSpPr>
        <p:spPr>
          <a:xfrm>
            <a:off x="463550" y="139389"/>
            <a:ext cx="10049022" cy="848139"/>
          </a:xfrm>
          <a:ln>
            <a:miter lim="800000"/>
            <a:headEnd/>
            <a:tailEnd/>
          </a:ln>
        </p:spPr>
        <p:txBody>
          <a:bodyPr rtlCol="0">
            <a:normAutofit/>
          </a:bodyPr>
          <a:lstStyle/>
          <a:p>
            <a:pPr algn="l" eaLnBrk="1" fontAlgn="auto" hangingPunct="1">
              <a:spcAft>
                <a:spcPts val="0"/>
              </a:spcAft>
              <a:defRPr/>
            </a:pPr>
            <a:r>
              <a:rPr lang="en-US"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ABSTRACT:-</a:t>
            </a:r>
            <a:endParaRPr lang="en-AU" sz="4000" b="1" dirty="0">
              <a:latin typeface="Times New Roman" panose="02020603050405020304" pitchFamily="18" charset="0"/>
              <a:cs typeface="Times New Roman" panose="02020603050405020304" pitchFamily="18" charset="0"/>
            </a:endParaRPr>
          </a:p>
        </p:txBody>
      </p:sp>
      <p:sp>
        <p:nvSpPr>
          <p:cNvPr id="5123" name="Subtitle 2">
            <a:extLst>
              <a:ext uri="{FF2B5EF4-FFF2-40B4-BE49-F238E27FC236}">
                <a16:creationId xmlns:a16="http://schemas.microsoft.com/office/drawing/2014/main" id="{5AAA4647-A06F-9D66-8131-57C260D92726}"/>
              </a:ext>
            </a:extLst>
          </p:cNvPr>
          <p:cNvSpPr>
            <a:spLocks noGrp="1"/>
          </p:cNvSpPr>
          <p:nvPr>
            <p:ph type="subTitle" idx="1"/>
          </p:nvPr>
        </p:nvSpPr>
        <p:spPr>
          <a:xfrm>
            <a:off x="463550" y="1170132"/>
            <a:ext cx="10904538" cy="12712700"/>
          </a:xfrm>
        </p:spPr>
        <p:txBody>
          <a:bodyPr/>
          <a:lstStyle/>
          <a:p>
            <a:pPr algn="just" eaLnBrk="1" hangingPunct="1">
              <a:lnSpc>
                <a:spcPct val="150000"/>
              </a:lnSpc>
            </a:pPr>
            <a:r>
              <a:rPr lang="en-US" altLang="en-US" sz="1800" dirty="0">
                <a:latin typeface="Times New Roman" panose="02020603050405020304" pitchFamily="18" charset="0"/>
                <a:cs typeface="Times New Roman" panose="02020603050405020304" pitchFamily="18" charset="0"/>
              </a:rPr>
              <a:t>                          In the digital era, user-generated reviews have become a crucial source of feedback for understanding customer satisfaction and improving products or services. This project, titled </a:t>
            </a:r>
            <a:r>
              <a:rPr lang="en-US" altLang="en-US" sz="1800" b="1" dirty="0">
                <a:latin typeface="Times New Roman" panose="02020603050405020304" pitchFamily="18" charset="0"/>
                <a:cs typeface="Times New Roman" panose="02020603050405020304" pitchFamily="18" charset="0"/>
              </a:rPr>
              <a:t>“Sentiment Analysis for Review-Based Feedback Systems,”</a:t>
            </a:r>
            <a:r>
              <a:rPr lang="en-US" altLang="en-US" sz="1800" dirty="0">
                <a:latin typeface="Times New Roman" panose="02020603050405020304" pitchFamily="18" charset="0"/>
                <a:cs typeface="Times New Roman" panose="02020603050405020304" pitchFamily="18" charset="0"/>
              </a:rPr>
              <a:t> focuses on automating the interpretation of textual feedback using machine learning techniques. The system analyzes user reviews and classifies them into positive or negative sentiment categories, enabling organizations to efficiently extract insights from large volumes of feedback data. The proposed model employs text preprocessing techniques such as tokenization, stop-word removal, and lemmatization, followed by feature extraction using the TF-IDF (Term Frequency–Inverse Document Frequency) method. A Logistic Regression algorithm is then trained on the IMDb movie reviews dataset to perform sentiment classification. Experimental results demonstrate an accuracy of approximately 90%, indicating that the model effectively captures sentiment polarity in textual data. This sentiment analysis framework can be integrated into real-world feedback systems to support decision-making, enhance customer relationship management, and monitor public perception automatically and efficiently.</a:t>
            </a:r>
            <a:endParaRPr lang="en-IN" altLang="en-US" sz="1800" dirty="0">
              <a:latin typeface="Times New Roman" panose="02020603050405020304" pitchFamily="18" charset="0"/>
              <a:cs typeface="Times New Roman" panose="02020603050405020304" pitchFamily="18" charset="0"/>
              <a:sym typeface="+mn-e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78AC3-6116-87A0-A8BD-46BD50EA6054}"/>
              </a:ext>
            </a:extLst>
          </p:cNvPr>
          <p:cNvSpPr>
            <a:spLocks noGrp="1"/>
          </p:cNvSpPr>
          <p:nvPr>
            <p:ph type="title"/>
          </p:nvPr>
        </p:nvSpPr>
        <p:spPr>
          <a:xfrm>
            <a:off x="838200" y="365125"/>
            <a:ext cx="10515600" cy="665653"/>
          </a:xfrm>
          <a:ln>
            <a:miter lim="800000"/>
            <a:headEnd/>
            <a:tailEnd/>
          </a:ln>
        </p:spPr>
        <p:txBody>
          <a:bodyPr rtlCol="0">
            <a:normAutofit/>
          </a:bodyPr>
          <a:lstStyle/>
          <a:p>
            <a:pPr eaLnBrk="1" fontAlgn="auto" hangingPunct="1">
              <a:spcAft>
                <a:spcPts val="0"/>
              </a:spcAft>
              <a:defRPr/>
            </a:pPr>
            <a:r>
              <a:rPr lang="en-IN" altLang="en-US" sz="36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OBJECTIVES</a:t>
            </a:r>
            <a:r>
              <a:rPr lang="en-US" sz="36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a:t>
            </a:r>
            <a:endParaRPr lang="en-US" sz="3600" dirty="0"/>
          </a:p>
        </p:txBody>
      </p:sp>
      <p:sp>
        <p:nvSpPr>
          <p:cNvPr id="6147" name="Content Placeholder 2">
            <a:extLst>
              <a:ext uri="{FF2B5EF4-FFF2-40B4-BE49-F238E27FC236}">
                <a16:creationId xmlns:a16="http://schemas.microsoft.com/office/drawing/2014/main" id="{B1F36170-C835-4A62-805A-E428B354292E}"/>
              </a:ext>
            </a:extLst>
          </p:cNvPr>
          <p:cNvSpPr>
            <a:spLocks noGrp="1"/>
          </p:cNvSpPr>
          <p:nvPr>
            <p:ph idx="1"/>
          </p:nvPr>
        </p:nvSpPr>
        <p:spPr>
          <a:xfrm>
            <a:off x="838200" y="1253331"/>
            <a:ext cx="10515600" cy="4351338"/>
          </a:xfrm>
        </p:spPr>
        <p:txBody>
          <a:bodyPr/>
          <a:lstStyle/>
          <a:p>
            <a:r>
              <a:rPr lang="en-US" altLang="en-US" sz="2000" b="1" dirty="0">
                <a:latin typeface="Times New Roman" panose="02020603050405020304" pitchFamily="18" charset="0"/>
                <a:cs typeface="Times New Roman" panose="02020603050405020304" pitchFamily="18" charset="0"/>
              </a:rPr>
              <a:t>To develop an automated sentiment classification system</a:t>
            </a:r>
            <a:r>
              <a:rPr lang="en-US" altLang="en-US" sz="2000" dirty="0">
                <a:latin typeface="Times New Roman" panose="02020603050405020304" pitchFamily="18" charset="0"/>
                <a:cs typeface="Times New Roman" panose="02020603050405020304" pitchFamily="18" charset="0"/>
              </a:rPr>
              <a:t> capable of identifying positive and negative opinions from user text reviews using machine learning techniques.</a:t>
            </a:r>
          </a:p>
          <a:p>
            <a:endParaRPr lang="en-US" altLang="en-US" sz="2000"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To preprocess textual data</a:t>
            </a:r>
            <a:r>
              <a:rPr lang="en-US" altLang="en-US" sz="2000" dirty="0">
                <a:latin typeface="Times New Roman" panose="02020603050405020304" pitchFamily="18" charset="0"/>
                <a:cs typeface="Times New Roman" panose="02020603050405020304" pitchFamily="18" charset="0"/>
              </a:rPr>
              <a:t> by applying operations such as tokenization, stop-word removal, punctuation removal, and lemmatization to improve data quality and model accuracy.</a:t>
            </a:r>
          </a:p>
          <a:p>
            <a:endParaRPr lang="en-US" altLang="en-US" sz="2000"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To extract significant textual features</a:t>
            </a:r>
            <a:r>
              <a:rPr lang="en-US" altLang="en-US" sz="2000" dirty="0">
                <a:latin typeface="Times New Roman" panose="02020603050405020304" pitchFamily="18" charset="0"/>
                <a:cs typeface="Times New Roman" panose="02020603050405020304" pitchFamily="18" charset="0"/>
              </a:rPr>
              <a:t> using the </a:t>
            </a:r>
            <a:r>
              <a:rPr lang="en-US" altLang="en-US" sz="2000" b="1" dirty="0">
                <a:latin typeface="Times New Roman" panose="02020603050405020304" pitchFamily="18" charset="0"/>
                <a:cs typeface="Times New Roman" panose="02020603050405020304" pitchFamily="18" charset="0"/>
              </a:rPr>
              <a:t>TF-IDF (Term Frequency–Inverse Document Frequency)</a:t>
            </a:r>
            <a:r>
              <a:rPr lang="en-US" altLang="en-US" sz="2000" dirty="0">
                <a:latin typeface="Times New Roman" panose="02020603050405020304" pitchFamily="18" charset="0"/>
                <a:cs typeface="Times New Roman" panose="02020603050405020304" pitchFamily="18" charset="0"/>
              </a:rPr>
              <a:t> technique for effective sentiment representation.</a:t>
            </a:r>
          </a:p>
          <a:p>
            <a:endParaRPr lang="en-US" altLang="en-US" sz="2000"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To train and evaluate a Logistic Regression model</a:t>
            </a:r>
            <a:r>
              <a:rPr lang="en-US" altLang="en-US" sz="2000" dirty="0">
                <a:latin typeface="Times New Roman" panose="02020603050405020304" pitchFamily="18" charset="0"/>
                <a:cs typeface="Times New Roman" panose="02020603050405020304" pitchFamily="18" charset="0"/>
              </a:rPr>
              <a:t> for sentiment prediction and assess its performance using metrics such as accuracy, precision, recall, and F1-score.</a:t>
            </a:r>
          </a:p>
          <a:p>
            <a:endParaRPr lang="en-US" altLang="en-US" sz="2000"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To apply the trained model for real-time feedback analysis</a:t>
            </a:r>
            <a:r>
              <a:rPr lang="en-US" altLang="en-US" sz="2000" dirty="0">
                <a:latin typeface="Times New Roman" panose="02020603050405020304" pitchFamily="18" charset="0"/>
                <a:cs typeface="Times New Roman" panose="02020603050405020304" pitchFamily="18" charset="0"/>
              </a:rPr>
              <a:t>, enabling organizations to automatically interpret large volumes of reviews and gain actionable insights into customer sentiment.</a:t>
            </a:r>
          </a:p>
          <a:p>
            <a:pPr eaLnBrk="1" hangingPunct="1">
              <a:lnSpc>
                <a:spcPct val="150000"/>
              </a:lnSpc>
            </a:pPr>
            <a:endParaRPr lang="en-IN" altLang="en-US" sz="2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8FA28-B209-5715-9165-841F86187675}"/>
              </a:ext>
            </a:extLst>
          </p:cNvPr>
          <p:cNvSpPr>
            <a:spLocks noGrp="1"/>
          </p:cNvSpPr>
          <p:nvPr>
            <p:ph type="title"/>
          </p:nvPr>
        </p:nvSpPr>
        <p:spPr>
          <a:ln>
            <a:miter lim="800000"/>
            <a:headEnd/>
            <a:tailEnd/>
          </a:ln>
        </p:spPr>
        <p:txBody>
          <a:bodyPr rtlCol="0">
            <a:normAutofit/>
          </a:bodyPr>
          <a:lstStyle/>
          <a:p>
            <a:pPr eaLnBrk="1" fontAlgn="auto" hangingPunct="1">
              <a:spcAft>
                <a:spcPts val="0"/>
              </a:spcAft>
              <a:defRPr/>
            </a:pPr>
            <a:r>
              <a:rPr lang="en-IN" altLang="en-US" sz="36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RELATED WORK</a:t>
            </a:r>
            <a:r>
              <a:rPr lang="en-US" sz="36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a:t>
            </a:r>
            <a:endParaRPr lang="en-US" sz="3600" dirty="0"/>
          </a:p>
        </p:txBody>
      </p:sp>
      <p:sp>
        <p:nvSpPr>
          <p:cNvPr id="8195" name="Content Placeholder 2">
            <a:extLst>
              <a:ext uri="{FF2B5EF4-FFF2-40B4-BE49-F238E27FC236}">
                <a16:creationId xmlns:a16="http://schemas.microsoft.com/office/drawing/2014/main" id="{D983ECA3-8CE6-4E76-465C-B3A68D8CC7C0}"/>
              </a:ext>
            </a:extLst>
          </p:cNvPr>
          <p:cNvSpPr>
            <a:spLocks noGrp="1"/>
          </p:cNvSpPr>
          <p:nvPr>
            <p:ph idx="1"/>
          </p:nvPr>
        </p:nvSpPr>
        <p:spPr>
          <a:xfrm>
            <a:off x="838200" y="1690688"/>
            <a:ext cx="10515600" cy="4351338"/>
          </a:xfrm>
        </p:spPr>
        <p:txBody>
          <a:bodyPr/>
          <a:lstStyle/>
          <a:p>
            <a:pPr algn="just"/>
            <a:r>
              <a:rPr lang="en-US" altLang="en-US" sz="2400" dirty="0">
                <a:latin typeface="Times New Roman" panose="02020603050405020304" pitchFamily="18" charset="0"/>
                <a:cs typeface="Times New Roman" panose="02020603050405020304" pitchFamily="18" charset="0"/>
              </a:rPr>
              <a:t>Several studies have focused on analyzing sentiments from text reviews using different machine learning techniques. </a:t>
            </a:r>
            <a:r>
              <a:rPr lang="en-US" altLang="en-US" sz="2400" b="1" dirty="0">
                <a:latin typeface="Times New Roman" panose="02020603050405020304" pitchFamily="18" charset="0"/>
                <a:cs typeface="Times New Roman" panose="02020603050405020304" pitchFamily="18" charset="0"/>
              </a:rPr>
              <a:t>Pang et al. (2002)</a:t>
            </a:r>
            <a:r>
              <a:rPr lang="en-US" altLang="en-US" sz="2400" dirty="0">
                <a:latin typeface="Times New Roman" panose="02020603050405020304" pitchFamily="18" charset="0"/>
                <a:cs typeface="Times New Roman" panose="02020603050405020304" pitchFamily="18" charset="0"/>
              </a:rPr>
              <a:t> and </a:t>
            </a:r>
            <a:r>
              <a:rPr lang="en-US" altLang="en-US" sz="2400" b="1" dirty="0">
                <a:latin typeface="Times New Roman" panose="02020603050405020304" pitchFamily="18" charset="0"/>
                <a:cs typeface="Times New Roman" panose="02020603050405020304" pitchFamily="18" charset="0"/>
              </a:rPr>
              <a:t>Turney (2002)</a:t>
            </a:r>
            <a:r>
              <a:rPr lang="en-US" altLang="en-US" sz="2400" dirty="0">
                <a:latin typeface="Times New Roman" panose="02020603050405020304" pitchFamily="18" charset="0"/>
                <a:cs typeface="Times New Roman" panose="02020603050405020304" pitchFamily="18" charset="0"/>
              </a:rPr>
              <a:t> were among the first to apply algorithms like </a:t>
            </a:r>
            <a:r>
              <a:rPr lang="en-US" altLang="en-US" sz="2400" b="1" dirty="0">
                <a:latin typeface="Times New Roman" panose="02020603050405020304" pitchFamily="18" charset="0"/>
                <a:cs typeface="Times New Roman" panose="02020603050405020304" pitchFamily="18" charset="0"/>
              </a:rPr>
              <a:t>Naïve Bayes</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SVM</a:t>
            </a:r>
            <a:r>
              <a:rPr lang="en-US" altLang="en-US" sz="2400" dirty="0">
                <a:latin typeface="Times New Roman" panose="02020603050405020304" pitchFamily="18" charset="0"/>
                <a:cs typeface="Times New Roman" panose="02020603050405020304" pitchFamily="18" charset="0"/>
              </a:rPr>
              <a:t>, and </a:t>
            </a:r>
            <a:r>
              <a:rPr lang="en-US" altLang="en-US" sz="2400" b="1" dirty="0">
                <a:latin typeface="Times New Roman" panose="02020603050405020304" pitchFamily="18" charset="0"/>
                <a:cs typeface="Times New Roman" panose="02020603050405020304" pitchFamily="18" charset="0"/>
              </a:rPr>
              <a:t>Logistic Regression</a:t>
            </a:r>
            <a:r>
              <a:rPr lang="en-US" altLang="en-US" sz="2400" dirty="0">
                <a:latin typeface="Times New Roman" panose="02020603050405020304" pitchFamily="18" charset="0"/>
                <a:cs typeface="Times New Roman" panose="02020603050405020304" pitchFamily="18" charset="0"/>
              </a:rPr>
              <a:t> for movie review classification using </a:t>
            </a:r>
            <a:r>
              <a:rPr lang="en-US" altLang="en-US" sz="2400" b="1" dirty="0">
                <a:latin typeface="Times New Roman" panose="02020603050405020304" pitchFamily="18" charset="0"/>
                <a:cs typeface="Times New Roman" panose="02020603050405020304" pitchFamily="18" charset="0"/>
              </a:rPr>
              <a:t>Bag-of-Words</a:t>
            </a:r>
            <a:r>
              <a:rPr lang="en-US" altLang="en-US" sz="2400" dirty="0">
                <a:latin typeface="Times New Roman" panose="02020603050405020304" pitchFamily="18" charset="0"/>
                <a:cs typeface="Times New Roman" panose="02020603050405020304" pitchFamily="18" charset="0"/>
              </a:rPr>
              <a:t> and </a:t>
            </a:r>
            <a:r>
              <a:rPr lang="en-US" altLang="en-US" sz="2400" b="1" dirty="0">
                <a:latin typeface="Times New Roman" panose="02020603050405020304" pitchFamily="18" charset="0"/>
                <a:cs typeface="Times New Roman" panose="02020603050405020304" pitchFamily="18" charset="0"/>
              </a:rPr>
              <a:t>TF–IDF</a:t>
            </a:r>
            <a:r>
              <a:rPr lang="en-US" altLang="en-US" sz="2400" dirty="0">
                <a:latin typeface="Times New Roman" panose="02020603050405020304" pitchFamily="18" charset="0"/>
                <a:cs typeface="Times New Roman" panose="02020603050405020304" pitchFamily="18" charset="0"/>
              </a:rPr>
              <a:t> features. Later works combined </a:t>
            </a:r>
            <a:r>
              <a:rPr lang="en-US" altLang="en-US" sz="2400" b="1" dirty="0">
                <a:latin typeface="Times New Roman" panose="02020603050405020304" pitchFamily="18" charset="0"/>
                <a:cs typeface="Times New Roman" panose="02020603050405020304" pitchFamily="18" charset="0"/>
              </a:rPr>
              <a:t>lexicon-based methods</a:t>
            </a:r>
            <a:r>
              <a:rPr lang="en-US" altLang="en-US" sz="2400" dirty="0">
                <a:latin typeface="Times New Roman" panose="02020603050405020304" pitchFamily="18" charset="0"/>
                <a:cs typeface="Times New Roman" panose="02020603050405020304" pitchFamily="18" charset="0"/>
              </a:rPr>
              <a:t> and </a:t>
            </a:r>
            <a:r>
              <a:rPr lang="en-US" altLang="en-US" sz="2400" b="1" dirty="0">
                <a:latin typeface="Times New Roman" panose="02020603050405020304" pitchFamily="18" charset="0"/>
                <a:cs typeface="Times New Roman" panose="02020603050405020304" pitchFamily="18" charset="0"/>
              </a:rPr>
              <a:t>machine learning</a:t>
            </a:r>
            <a:r>
              <a:rPr lang="en-US" altLang="en-US" sz="2400" dirty="0">
                <a:latin typeface="Times New Roman" panose="02020603050405020304" pitchFamily="18" charset="0"/>
                <a:cs typeface="Times New Roman" panose="02020603050405020304" pitchFamily="18" charset="0"/>
              </a:rPr>
              <a:t> to improve accuracy and contextual understanding.</a:t>
            </a:r>
          </a:p>
          <a:p>
            <a:pPr algn="just"/>
            <a:endParaRPr lang="en-US" altLang="en-US" sz="2400" dirty="0">
              <a:latin typeface="Times New Roman" panose="02020603050405020304" pitchFamily="18" charset="0"/>
              <a:cs typeface="Times New Roman" panose="02020603050405020304" pitchFamily="18" charset="0"/>
            </a:endParaRPr>
          </a:p>
          <a:p>
            <a:pPr algn="just"/>
            <a:r>
              <a:rPr lang="en-US" altLang="en-US" sz="2400" dirty="0">
                <a:latin typeface="Times New Roman" panose="02020603050405020304" pitchFamily="18" charset="0"/>
                <a:cs typeface="Times New Roman" panose="02020603050405020304" pitchFamily="18" charset="0"/>
              </a:rPr>
              <a:t>With the growth of deep learning, models such as </a:t>
            </a:r>
            <a:r>
              <a:rPr lang="en-US" altLang="en-US" sz="2400" b="1" dirty="0">
                <a:latin typeface="Times New Roman" panose="02020603050405020304" pitchFamily="18" charset="0"/>
                <a:cs typeface="Times New Roman" panose="02020603050405020304" pitchFamily="18" charset="0"/>
              </a:rPr>
              <a:t>CNN, RNN, and BERT</a:t>
            </a:r>
            <a:r>
              <a:rPr lang="en-US" altLang="en-US" sz="2400" dirty="0">
                <a:latin typeface="Times New Roman" panose="02020603050405020304" pitchFamily="18" charset="0"/>
                <a:cs typeface="Times New Roman" panose="02020603050405020304" pitchFamily="18" charset="0"/>
              </a:rPr>
              <a:t> have been used to capture deeper context in text data, achieving high accuracy but requiring large datasets and heavy computation. In comparison, </a:t>
            </a:r>
            <a:r>
              <a:rPr lang="en-US" altLang="en-US" sz="2400" b="1" dirty="0">
                <a:latin typeface="Times New Roman" panose="02020603050405020304" pitchFamily="18" charset="0"/>
                <a:cs typeface="Times New Roman" panose="02020603050405020304" pitchFamily="18" charset="0"/>
              </a:rPr>
              <a:t>Logistic Regression with TF–IDF</a:t>
            </a:r>
            <a:r>
              <a:rPr lang="en-US" altLang="en-US" sz="2400" dirty="0">
                <a:latin typeface="Times New Roman" panose="02020603050405020304" pitchFamily="18" charset="0"/>
                <a:cs typeface="Times New Roman" panose="02020603050405020304" pitchFamily="18" charset="0"/>
              </a:rPr>
              <a:t>, as used in this project, provides a simple, efficient, and accurate solution for binary sentiment classification tasks.</a:t>
            </a:r>
          </a:p>
          <a:p>
            <a:pPr algn="just" eaLnBrk="1" hangingPunct="1">
              <a:lnSpc>
                <a:spcPct val="150000"/>
              </a:lnSpc>
            </a:pPr>
            <a:endParaRPr lang="en-IN" altLang="en-US" sz="2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976A5A2-5FFC-B80F-5DD8-BF1E1DFC3825}"/>
              </a:ext>
            </a:extLst>
          </p:cNvPr>
          <p:cNvSpPr/>
          <p:nvPr/>
        </p:nvSpPr>
        <p:spPr>
          <a:xfrm>
            <a:off x="1604355" y="1030776"/>
            <a:ext cx="8686801" cy="4547063"/>
          </a:xfrm>
          <a:prstGeom prst="rect">
            <a:avLst/>
          </a:prstGeom>
          <a:solidFill>
            <a:schemeClr val="bg1"/>
          </a:solidFill>
          <a:ln>
            <a:solidFill>
              <a:schemeClr val="tx1"/>
            </a:solidFill>
          </a:ln>
          <a:effectLst>
            <a:outerShdw blurRad="76200" dir="18900000" sy="23000" kx="-12000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solidFill>
                <a:schemeClr val="tx1"/>
              </a:solidFill>
            </a:endParaRPr>
          </a:p>
        </p:txBody>
      </p:sp>
      <p:sp>
        <p:nvSpPr>
          <p:cNvPr id="6" name="TextBox 5">
            <a:extLst>
              <a:ext uri="{FF2B5EF4-FFF2-40B4-BE49-F238E27FC236}">
                <a16:creationId xmlns:a16="http://schemas.microsoft.com/office/drawing/2014/main" id="{5DB8621B-06BC-1012-66AE-0D1AE13BBFEE}"/>
              </a:ext>
            </a:extLst>
          </p:cNvPr>
          <p:cNvSpPr txBox="1"/>
          <p:nvPr/>
        </p:nvSpPr>
        <p:spPr>
          <a:xfrm>
            <a:off x="2086494" y="1457647"/>
            <a:ext cx="7722522" cy="4247317"/>
          </a:xfrm>
          <a:prstGeom prst="rect">
            <a:avLst/>
          </a:prstGeom>
          <a:noFill/>
        </p:spPr>
        <p:txBody>
          <a:bodyPr wrap="square">
            <a:spAutoFit/>
          </a:bodyPr>
          <a:lstStyle/>
          <a:p>
            <a:r>
              <a:rPr lang="en-US" b="1" dirty="0">
                <a:solidFill>
                  <a:schemeClr val="tx1"/>
                </a:solidFill>
              </a:rPr>
              <a:t>DATASET : </a:t>
            </a:r>
            <a:r>
              <a:rPr lang="en-US" b="1" dirty="0">
                <a:solidFill>
                  <a:srgbClr val="FF0000"/>
                </a:solidFill>
              </a:rPr>
              <a:t>IMDB MOVIE REVIEWS.csv</a:t>
            </a:r>
            <a:r>
              <a:rPr lang="en-US" b="1" dirty="0">
                <a:solidFill>
                  <a:schemeClr val="tx1"/>
                </a:solidFill>
              </a:rPr>
              <a:t>	(</a:t>
            </a:r>
            <a:r>
              <a:rPr lang="en-US" dirty="0">
                <a:solidFill>
                  <a:schemeClr val="tx1"/>
                </a:solidFill>
              </a:rPr>
              <a:t>downloaded from Kaggl</a:t>
            </a:r>
            <a:r>
              <a:rPr lang="en-US" dirty="0"/>
              <a:t>e)</a:t>
            </a:r>
          </a:p>
          <a:p>
            <a:endParaRPr lang="en-US" dirty="0"/>
          </a:p>
          <a:p>
            <a:r>
              <a:rPr lang="en-US" b="1" dirty="0"/>
              <a:t>SIZE OF DATASET : </a:t>
            </a:r>
          </a:p>
          <a:p>
            <a:r>
              <a:rPr lang="en-US" b="1" dirty="0"/>
              <a:t>	</a:t>
            </a:r>
          </a:p>
          <a:p>
            <a:r>
              <a:rPr lang="en-US" b="1" dirty="0"/>
              <a:t>	TOTAL RECORDS: </a:t>
            </a:r>
            <a:r>
              <a:rPr lang="en-US" b="1" dirty="0">
                <a:solidFill>
                  <a:srgbClr val="FF0000"/>
                </a:solidFill>
              </a:rPr>
              <a:t>50000</a:t>
            </a:r>
          </a:p>
          <a:p>
            <a:endParaRPr lang="en-US" b="1" dirty="0">
              <a:solidFill>
                <a:srgbClr val="FF0000"/>
              </a:solidFill>
            </a:endParaRPr>
          </a:p>
          <a:p>
            <a:r>
              <a:rPr lang="en-US" b="1" dirty="0"/>
              <a:t>	ATTRIBUTES WITH VALUES: </a:t>
            </a:r>
            <a:r>
              <a:rPr lang="en-US" b="1" dirty="0">
                <a:solidFill>
                  <a:srgbClr val="FF0000"/>
                </a:solidFill>
              </a:rPr>
              <a:t>1</a:t>
            </a:r>
          </a:p>
          <a:p>
            <a:endParaRPr lang="en-US" b="1" dirty="0">
              <a:solidFill>
                <a:srgbClr val="FF0000"/>
              </a:solidFill>
            </a:endParaRPr>
          </a:p>
          <a:p>
            <a:r>
              <a:rPr lang="en-US" b="1" dirty="0"/>
              <a:t>	DEDICATED EMPTY ATTRIBUTES: </a:t>
            </a:r>
            <a:r>
              <a:rPr lang="en-US" b="1" dirty="0">
                <a:solidFill>
                  <a:srgbClr val="FF0000"/>
                </a:solidFill>
              </a:rPr>
              <a:t>3</a:t>
            </a:r>
          </a:p>
          <a:p>
            <a:endParaRPr lang="en-US" b="1" dirty="0">
              <a:solidFill>
                <a:srgbClr val="FF0000"/>
              </a:solidFill>
            </a:endParaRPr>
          </a:p>
          <a:p>
            <a:r>
              <a:rPr lang="en-US" b="1" dirty="0"/>
              <a:t>	TOTAL ATTRIBUTES: </a:t>
            </a:r>
            <a:r>
              <a:rPr lang="en-US" b="1" dirty="0">
                <a:solidFill>
                  <a:srgbClr val="FF0000"/>
                </a:solidFill>
              </a:rPr>
              <a:t>4</a:t>
            </a:r>
          </a:p>
          <a:p>
            <a:r>
              <a:rPr lang="en-US" b="1" dirty="0">
                <a:solidFill>
                  <a:srgbClr val="FF0000"/>
                </a:solidFill>
              </a:rPr>
              <a:t>		</a:t>
            </a:r>
          </a:p>
          <a:p>
            <a:r>
              <a:rPr lang="en-US" b="1" dirty="0">
                <a:solidFill>
                  <a:srgbClr val="FF0000"/>
                </a:solidFill>
              </a:rPr>
              <a:t>	</a:t>
            </a:r>
            <a:r>
              <a:rPr lang="en-US" b="1" dirty="0"/>
              <a:t>TOTAL DATA SIZE: </a:t>
            </a:r>
            <a:r>
              <a:rPr lang="en-US" b="1" dirty="0">
                <a:solidFill>
                  <a:srgbClr val="FF0000"/>
                </a:solidFill>
              </a:rPr>
              <a:t>65 MB</a:t>
            </a:r>
          </a:p>
          <a:p>
            <a:r>
              <a:rPr lang="en-US" b="1" dirty="0"/>
              <a:t>	</a:t>
            </a:r>
          </a:p>
          <a:p>
            <a:pPr algn="ctr"/>
            <a:endParaRPr lang="en-US" dirty="0"/>
          </a:p>
        </p:txBody>
      </p:sp>
    </p:spTree>
    <p:extLst>
      <p:ext uri="{BB962C8B-B14F-4D97-AF65-F5344CB8AC3E}">
        <p14:creationId xmlns:p14="http://schemas.microsoft.com/office/powerpoint/2010/main" val="3028115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7D0785-54EA-8C63-BEC6-CE66637E457E}"/>
              </a:ext>
            </a:extLst>
          </p:cNvPr>
          <p:cNvPicPr>
            <a:picLocks noChangeAspect="1"/>
          </p:cNvPicPr>
          <p:nvPr/>
        </p:nvPicPr>
        <p:blipFill>
          <a:blip r:embed="rId2"/>
          <a:stretch>
            <a:fillRect/>
          </a:stretch>
        </p:blipFill>
        <p:spPr>
          <a:xfrm>
            <a:off x="52998" y="0"/>
            <a:ext cx="12086004" cy="6858000"/>
          </a:xfrm>
          <a:prstGeom prst="rect">
            <a:avLst/>
          </a:prstGeom>
        </p:spPr>
      </p:pic>
    </p:spTree>
    <p:extLst>
      <p:ext uri="{BB962C8B-B14F-4D97-AF65-F5344CB8AC3E}">
        <p14:creationId xmlns:p14="http://schemas.microsoft.com/office/powerpoint/2010/main" val="1086471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19">
            <a:extLst>
              <a:ext uri="{FF2B5EF4-FFF2-40B4-BE49-F238E27FC236}">
                <a16:creationId xmlns:a16="http://schemas.microsoft.com/office/drawing/2014/main" id="{06232C9E-BCF8-09AC-4453-F010FC6EEBC7}"/>
              </a:ext>
            </a:extLst>
          </p:cNvPr>
          <p:cNvPicPr>
            <a:picLocks/>
          </p:cNvPicPr>
          <p:nvPr/>
        </p:nvPicPr>
        <p:blipFill>
          <a:blip r:embed="rId2" cstate="print"/>
          <a:stretch>
            <a:fillRect/>
          </a:stretch>
        </p:blipFill>
        <p:spPr>
          <a:xfrm>
            <a:off x="1217093" y="74814"/>
            <a:ext cx="10066713" cy="5960226"/>
          </a:xfrm>
          <a:prstGeom prst="rect">
            <a:avLst/>
          </a:prstGeom>
        </p:spPr>
      </p:pic>
      <p:sp>
        <p:nvSpPr>
          <p:cNvPr id="6" name="TextBox 5">
            <a:extLst>
              <a:ext uri="{FF2B5EF4-FFF2-40B4-BE49-F238E27FC236}">
                <a16:creationId xmlns:a16="http://schemas.microsoft.com/office/drawing/2014/main" id="{33C02D45-AE18-589D-E625-A1B1038CD5D3}"/>
              </a:ext>
            </a:extLst>
          </p:cNvPr>
          <p:cNvSpPr txBox="1"/>
          <p:nvPr/>
        </p:nvSpPr>
        <p:spPr>
          <a:xfrm>
            <a:off x="774032" y="6164472"/>
            <a:ext cx="10463821" cy="369332"/>
          </a:xfrm>
          <a:prstGeom prst="rect">
            <a:avLst/>
          </a:prstGeom>
          <a:noFill/>
        </p:spPr>
        <p:txBody>
          <a:bodyPr wrap="square" rtlCol="0">
            <a:spAutoFit/>
          </a:bodyPr>
          <a:lstStyle/>
          <a:p>
            <a:pPr algn="ctr"/>
            <a:r>
              <a:rPr lang="en-US" sz="1600" b="1" dirty="0"/>
              <a:t>Fig-1:</a:t>
            </a:r>
            <a:r>
              <a:rPr lang="en-US" b="1" dirty="0"/>
              <a:t> FLOW CHART OF METHODOLOGY </a:t>
            </a:r>
            <a:endParaRPr lang="en-IN" b="1" dirty="0"/>
          </a:p>
        </p:txBody>
      </p:sp>
      <p:sp>
        <p:nvSpPr>
          <p:cNvPr id="2" name="Title 1">
            <a:extLst>
              <a:ext uri="{FF2B5EF4-FFF2-40B4-BE49-F238E27FC236}">
                <a16:creationId xmlns:a16="http://schemas.microsoft.com/office/drawing/2014/main" id="{2782F474-8674-EFC3-5E78-8050E49E7247}"/>
              </a:ext>
            </a:extLst>
          </p:cNvPr>
          <p:cNvSpPr>
            <a:spLocks noGrp="1"/>
          </p:cNvSpPr>
          <p:nvPr>
            <p:ph type="title"/>
          </p:nvPr>
        </p:nvSpPr>
        <p:spPr>
          <a:xfrm>
            <a:off x="459307" y="0"/>
            <a:ext cx="10515600" cy="1325563"/>
          </a:xfrm>
          <a:ln>
            <a:miter lim="800000"/>
            <a:headEnd/>
            <a:tailEnd/>
          </a:ln>
        </p:spPr>
        <p:txBody>
          <a:bodyPr rtlCol="0">
            <a:normAutofit/>
          </a:bodyPr>
          <a:lstStyle/>
          <a:p>
            <a:pPr eaLnBrk="1" fontAlgn="auto" hangingPunct="1">
              <a:spcAft>
                <a:spcPts val="0"/>
              </a:spcAft>
              <a:defRPr/>
            </a:pPr>
            <a:r>
              <a:rPr lang="en-IN"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METHODOLOGY:-</a:t>
            </a:r>
            <a:r>
              <a:rPr lang="en-AU"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endParaRPr lang="en-IN" sz="4000" b="1" dirty="0"/>
          </a:p>
        </p:txBody>
      </p:sp>
    </p:spTree>
    <p:extLst>
      <p:ext uri="{BB962C8B-B14F-4D97-AF65-F5344CB8AC3E}">
        <p14:creationId xmlns:p14="http://schemas.microsoft.com/office/powerpoint/2010/main" val="1301248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04774-2AF2-7264-2743-A159775039E4}"/>
              </a:ext>
            </a:extLst>
          </p:cNvPr>
          <p:cNvSpPr>
            <a:spLocks noGrp="1"/>
          </p:cNvSpPr>
          <p:nvPr>
            <p:ph type="title"/>
          </p:nvPr>
        </p:nvSpPr>
        <p:spPr>
          <a:xfrm>
            <a:off x="459307" y="0"/>
            <a:ext cx="10515600" cy="1325563"/>
          </a:xfrm>
          <a:ln>
            <a:miter lim="800000"/>
            <a:headEnd/>
            <a:tailEnd/>
          </a:ln>
        </p:spPr>
        <p:txBody>
          <a:bodyPr rtlCol="0">
            <a:normAutofit/>
          </a:bodyPr>
          <a:lstStyle/>
          <a:p>
            <a:pPr eaLnBrk="1" fontAlgn="auto" hangingPunct="1">
              <a:spcAft>
                <a:spcPts val="0"/>
              </a:spcAft>
              <a:defRPr/>
            </a:pPr>
            <a:r>
              <a:rPr lang="en-IN"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METHODOLOGY:-</a:t>
            </a:r>
            <a:r>
              <a:rPr lang="en-AU"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endParaRPr lang="en-IN" sz="4000" b="1" dirty="0"/>
          </a:p>
        </p:txBody>
      </p:sp>
      <p:sp>
        <p:nvSpPr>
          <p:cNvPr id="9219" name="Content Placeholder 7">
            <a:extLst>
              <a:ext uri="{FF2B5EF4-FFF2-40B4-BE49-F238E27FC236}">
                <a16:creationId xmlns:a16="http://schemas.microsoft.com/office/drawing/2014/main" id="{1A6B3036-EAD0-9A5E-ADF4-9148DA99FC03}"/>
              </a:ext>
            </a:extLst>
          </p:cNvPr>
          <p:cNvSpPr>
            <a:spLocks noGrp="1" noChangeArrowheads="1"/>
          </p:cNvSpPr>
          <p:nvPr>
            <p:ph sz="half" idx="1"/>
          </p:nvPr>
        </p:nvSpPr>
        <p:spPr>
          <a:xfrm>
            <a:off x="519214" y="1120676"/>
            <a:ext cx="11153572" cy="2308324"/>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indent="0">
              <a:lnSpc>
                <a:spcPct val="100000"/>
              </a:lnSpc>
              <a:spcBef>
                <a:spcPct val="0"/>
              </a:spcBef>
              <a:buFontTx/>
              <a:buChar char="•"/>
            </a:pPr>
            <a:r>
              <a:rPr lang="en-US" altLang="en-US" sz="2400" b="1" dirty="0">
                <a:latin typeface="Times New Roman" panose="02020603050405020304" pitchFamily="18" charset="0"/>
                <a:cs typeface="Times New Roman" panose="02020603050405020304" pitchFamily="18" charset="0"/>
              </a:rPr>
              <a:t>Data Collection:</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The IMDb movie review dataset was used, containing balanced positive and negative reviews.</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Each review has text data and a sentiment label (positive/negative).</a:t>
            </a:r>
          </a:p>
          <a:p>
            <a:pPr marL="0" indent="0">
              <a:lnSpc>
                <a:spcPct val="100000"/>
              </a:lnSpc>
              <a:spcBef>
                <a:spcPct val="0"/>
              </a:spcBef>
              <a:buFontTx/>
              <a:buChar char="•"/>
            </a:pPr>
            <a:endParaRPr lang="en-US" altLang="en-US" sz="2400" dirty="0">
              <a:latin typeface="Times New Roman" panose="02020603050405020304" pitchFamily="18" charset="0"/>
              <a:cs typeface="Times New Roman" panose="02020603050405020304" pitchFamily="18" charset="0"/>
            </a:endParaRPr>
          </a:p>
          <a:p>
            <a:pPr marL="0" indent="0">
              <a:lnSpc>
                <a:spcPct val="100000"/>
              </a:lnSpc>
              <a:spcBef>
                <a:spcPct val="0"/>
              </a:spcBef>
              <a:buNone/>
            </a:pPr>
            <a:endParaRPr lang="en-US" alt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58FFA72-CC24-2F3C-8674-06D8F6485315}"/>
              </a:ext>
            </a:extLst>
          </p:cNvPr>
          <p:cNvPicPr>
            <a:picLocks noChangeAspect="1"/>
          </p:cNvPicPr>
          <p:nvPr/>
        </p:nvPicPr>
        <p:blipFill>
          <a:blip r:embed="rId2"/>
          <a:stretch>
            <a:fillRect/>
          </a:stretch>
        </p:blipFill>
        <p:spPr>
          <a:xfrm>
            <a:off x="1616718" y="3012439"/>
            <a:ext cx="7744906" cy="287695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EAC78-0FE8-279B-4985-00E67F015A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D7951B-71B8-ACD3-36D7-CF9400CCEF34}"/>
              </a:ext>
            </a:extLst>
          </p:cNvPr>
          <p:cNvSpPr>
            <a:spLocks noGrp="1"/>
          </p:cNvSpPr>
          <p:nvPr>
            <p:ph type="title"/>
          </p:nvPr>
        </p:nvSpPr>
        <p:spPr>
          <a:xfrm>
            <a:off x="459307" y="0"/>
            <a:ext cx="10515600" cy="1325563"/>
          </a:xfrm>
          <a:ln>
            <a:miter lim="800000"/>
            <a:headEnd/>
            <a:tailEnd/>
          </a:ln>
        </p:spPr>
        <p:txBody>
          <a:bodyPr rtlCol="0">
            <a:normAutofit/>
          </a:bodyPr>
          <a:lstStyle/>
          <a:p>
            <a:pPr eaLnBrk="1" fontAlgn="auto" hangingPunct="1">
              <a:spcAft>
                <a:spcPts val="0"/>
              </a:spcAft>
              <a:defRPr/>
            </a:pPr>
            <a:r>
              <a:rPr lang="en-IN"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METHODOLOGY:-</a:t>
            </a:r>
            <a:r>
              <a:rPr lang="en-AU"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endParaRPr lang="en-IN" sz="4000" b="1" dirty="0"/>
          </a:p>
        </p:txBody>
      </p:sp>
      <p:pic>
        <p:nvPicPr>
          <p:cNvPr id="6" name="Picture 5">
            <a:extLst>
              <a:ext uri="{FF2B5EF4-FFF2-40B4-BE49-F238E27FC236}">
                <a16:creationId xmlns:a16="http://schemas.microsoft.com/office/drawing/2014/main" id="{E2EC13F0-9868-E396-FBE1-F8033B8D0EA3}"/>
              </a:ext>
            </a:extLst>
          </p:cNvPr>
          <p:cNvPicPr>
            <a:picLocks noChangeAspect="1"/>
          </p:cNvPicPr>
          <p:nvPr/>
        </p:nvPicPr>
        <p:blipFill>
          <a:blip r:embed="rId2"/>
          <a:stretch>
            <a:fillRect/>
          </a:stretch>
        </p:blipFill>
        <p:spPr>
          <a:xfrm>
            <a:off x="2968747" y="1325563"/>
            <a:ext cx="5859369" cy="4962698"/>
          </a:xfrm>
          <a:prstGeom prst="rect">
            <a:avLst/>
          </a:prstGeom>
        </p:spPr>
      </p:pic>
      <p:sp>
        <p:nvSpPr>
          <p:cNvPr id="7" name="TextBox 6">
            <a:extLst>
              <a:ext uri="{FF2B5EF4-FFF2-40B4-BE49-F238E27FC236}">
                <a16:creationId xmlns:a16="http://schemas.microsoft.com/office/drawing/2014/main" id="{52E1B859-B6D7-AD9C-0640-C1E46D7047DC}"/>
              </a:ext>
            </a:extLst>
          </p:cNvPr>
          <p:cNvSpPr txBox="1"/>
          <p:nvPr/>
        </p:nvSpPr>
        <p:spPr>
          <a:xfrm>
            <a:off x="1097280" y="1961804"/>
            <a:ext cx="1274708" cy="369332"/>
          </a:xfrm>
          <a:prstGeom prst="rect">
            <a:avLst/>
          </a:prstGeom>
          <a:noFill/>
        </p:spPr>
        <p:txBody>
          <a:bodyPr wrap="none" rtlCol="0">
            <a:spAutoFit/>
          </a:bodyPr>
          <a:lstStyle/>
          <a:p>
            <a:r>
              <a:rPr lang="en-US" b="1" u="sng" dirty="0">
                <a:solidFill>
                  <a:srgbClr val="FF0000"/>
                </a:solidFill>
              </a:rPr>
              <a:t>OUTPUT :</a:t>
            </a:r>
            <a:endParaRPr lang="en-IN" b="1" u="sng" dirty="0">
              <a:solidFill>
                <a:srgbClr val="FF0000"/>
              </a:solidFill>
            </a:endParaRPr>
          </a:p>
        </p:txBody>
      </p:sp>
    </p:spTree>
    <p:extLst>
      <p:ext uri="{BB962C8B-B14F-4D97-AF65-F5344CB8AC3E}">
        <p14:creationId xmlns:p14="http://schemas.microsoft.com/office/powerpoint/2010/main" val="38698511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D01B3-F3EE-3930-1A49-EA7B61E5F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6E6286-9470-A693-465F-5016DFD8959B}"/>
              </a:ext>
            </a:extLst>
          </p:cNvPr>
          <p:cNvSpPr>
            <a:spLocks noGrp="1"/>
          </p:cNvSpPr>
          <p:nvPr>
            <p:ph type="title"/>
          </p:nvPr>
        </p:nvSpPr>
        <p:spPr>
          <a:xfrm>
            <a:off x="459307" y="0"/>
            <a:ext cx="10515600" cy="1325563"/>
          </a:xfrm>
          <a:ln>
            <a:miter lim="800000"/>
            <a:headEnd/>
            <a:tailEnd/>
          </a:ln>
        </p:spPr>
        <p:txBody>
          <a:bodyPr rtlCol="0">
            <a:normAutofit/>
          </a:bodyPr>
          <a:lstStyle/>
          <a:p>
            <a:pPr eaLnBrk="1" fontAlgn="auto" hangingPunct="1">
              <a:spcAft>
                <a:spcPts val="0"/>
              </a:spcAft>
              <a:defRPr/>
            </a:pPr>
            <a:r>
              <a:rPr lang="en-IN"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METHODOLOGY:-</a:t>
            </a:r>
            <a:r>
              <a:rPr lang="en-AU"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endParaRPr lang="en-IN" sz="4000" b="1" dirty="0"/>
          </a:p>
        </p:txBody>
      </p:sp>
      <p:sp>
        <p:nvSpPr>
          <p:cNvPr id="9219" name="Content Placeholder 7">
            <a:extLst>
              <a:ext uri="{FF2B5EF4-FFF2-40B4-BE49-F238E27FC236}">
                <a16:creationId xmlns:a16="http://schemas.microsoft.com/office/drawing/2014/main" id="{A27B4D38-7673-67FA-0350-E1EE0700E1E3}"/>
              </a:ext>
            </a:extLst>
          </p:cNvPr>
          <p:cNvSpPr>
            <a:spLocks noGrp="1" noChangeArrowheads="1"/>
          </p:cNvSpPr>
          <p:nvPr>
            <p:ph sz="half" idx="1"/>
          </p:nvPr>
        </p:nvSpPr>
        <p:spPr>
          <a:xfrm>
            <a:off x="459307" y="662781"/>
            <a:ext cx="11153572" cy="1938992"/>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indent="0">
              <a:lnSpc>
                <a:spcPct val="100000"/>
              </a:lnSpc>
              <a:spcBef>
                <a:spcPct val="0"/>
              </a:spcBef>
              <a:buNone/>
            </a:pPr>
            <a:endParaRPr lang="en-US" altLang="en-US" sz="2400" dirty="0">
              <a:latin typeface="Times New Roman" panose="02020603050405020304" pitchFamily="18" charset="0"/>
              <a:cs typeface="Times New Roman" panose="02020603050405020304" pitchFamily="18" charset="0"/>
            </a:endParaRPr>
          </a:p>
          <a:p>
            <a:pPr marL="0" indent="0">
              <a:lnSpc>
                <a:spcPct val="100000"/>
              </a:lnSpc>
              <a:spcBef>
                <a:spcPct val="0"/>
              </a:spcBef>
              <a:buFontTx/>
              <a:buChar char="•"/>
            </a:pPr>
            <a:r>
              <a:rPr lang="en-US" altLang="en-US" sz="2400" b="1" dirty="0">
                <a:latin typeface="Times New Roman" panose="02020603050405020304" pitchFamily="18" charset="0"/>
                <a:cs typeface="Times New Roman" panose="02020603050405020304" pitchFamily="18" charset="0"/>
              </a:rPr>
              <a:t>Data Preprocessing:</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Text data was cleaned by converting to lowercase, removing punctuation and stop words.</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Lemmatization was applied to reduce words to their base form for better consistency.</a:t>
            </a:r>
          </a:p>
          <a:p>
            <a:pPr marL="0" indent="0">
              <a:lnSpc>
                <a:spcPct val="100000"/>
              </a:lnSpc>
              <a:spcBef>
                <a:spcPct val="0"/>
              </a:spcBef>
              <a:buNone/>
            </a:pPr>
            <a:endParaRPr lang="en-US" alt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8E12007-7B07-3C7A-022C-726E14EF80F8}"/>
              </a:ext>
            </a:extLst>
          </p:cNvPr>
          <p:cNvPicPr>
            <a:picLocks noChangeAspect="1"/>
          </p:cNvPicPr>
          <p:nvPr/>
        </p:nvPicPr>
        <p:blipFill>
          <a:blip r:embed="rId2"/>
          <a:stretch>
            <a:fillRect/>
          </a:stretch>
        </p:blipFill>
        <p:spPr>
          <a:xfrm>
            <a:off x="1995217" y="2964474"/>
            <a:ext cx="8735644" cy="600159"/>
          </a:xfrm>
          <a:prstGeom prst="rect">
            <a:avLst/>
          </a:prstGeom>
        </p:spPr>
      </p:pic>
      <p:pic>
        <p:nvPicPr>
          <p:cNvPr id="6" name="Picture 5">
            <a:extLst>
              <a:ext uri="{FF2B5EF4-FFF2-40B4-BE49-F238E27FC236}">
                <a16:creationId xmlns:a16="http://schemas.microsoft.com/office/drawing/2014/main" id="{18ABFA63-E6F3-0933-C479-2474A22178FE}"/>
              </a:ext>
            </a:extLst>
          </p:cNvPr>
          <p:cNvPicPr>
            <a:picLocks noChangeAspect="1"/>
          </p:cNvPicPr>
          <p:nvPr/>
        </p:nvPicPr>
        <p:blipFill>
          <a:blip r:embed="rId3"/>
          <a:stretch>
            <a:fillRect/>
          </a:stretch>
        </p:blipFill>
        <p:spPr>
          <a:xfrm>
            <a:off x="2145284" y="4531069"/>
            <a:ext cx="7497221" cy="1228896"/>
          </a:xfrm>
          <a:prstGeom prst="rect">
            <a:avLst/>
          </a:prstGeom>
        </p:spPr>
      </p:pic>
      <p:sp>
        <p:nvSpPr>
          <p:cNvPr id="9" name="TextBox 8">
            <a:extLst>
              <a:ext uri="{FF2B5EF4-FFF2-40B4-BE49-F238E27FC236}">
                <a16:creationId xmlns:a16="http://schemas.microsoft.com/office/drawing/2014/main" id="{714FF92F-26AA-845B-906E-5F18B77B8A6B}"/>
              </a:ext>
            </a:extLst>
          </p:cNvPr>
          <p:cNvSpPr txBox="1"/>
          <p:nvPr/>
        </p:nvSpPr>
        <p:spPr>
          <a:xfrm>
            <a:off x="2145284" y="2537476"/>
            <a:ext cx="4801314" cy="369332"/>
          </a:xfrm>
          <a:prstGeom prst="rect">
            <a:avLst/>
          </a:prstGeom>
          <a:noFill/>
        </p:spPr>
        <p:txBody>
          <a:bodyPr wrap="none" rtlCol="0">
            <a:spAutoFit/>
          </a:bodyPr>
          <a:lstStyle/>
          <a:p>
            <a:r>
              <a:rPr lang="en-US" b="1" dirty="0"/>
              <a:t>Step-1:  </a:t>
            </a:r>
            <a:r>
              <a:rPr lang="en-US" dirty="0"/>
              <a:t>Converting all letters into lower case</a:t>
            </a:r>
            <a:endParaRPr lang="en-IN" dirty="0"/>
          </a:p>
        </p:txBody>
      </p:sp>
      <p:sp>
        <p:nvSpPr>
          <p:cNvPr id="10" name="TextBox 9">
            <a:extLst>
              <a:ext uri="{FF2B5EF4-FFF2-40B4-BE49-F238E27FC236}">
                <a16:creationId xmlns:a16="http://schemas.microsoft.com/office/drawing/2014/main" id="{5C51642E-AE82-5A76-F4FC-0B256E2FF379}"/>
              </a:ext>
            </a:extLst>
          </p:cNvPr>
          <p:cNvSpPr txBox="1"/>
          <p:nvPr/>
        </p:nvSpPr>
        <p:spPr>
          <a:xfrm>
            <a:off x="2145284" y="3863185"/>
            <a:ext cx="6519734" cy="369332"/>
          </a:xfrm>
          <a:prstGeom prst="rect">
            <a:avLst/>
          </a:prstGeom>
          <a:noFill/>
        </p:spPr>
        <p:txBody>
          <a:bodyPr wrap="none" rtlCol="0">
            <a:spAutoFit/>
          </a:bodyPr>
          <a:lstStyle/>
          <a:p>
            <a:r>
              <a:rPr lang="en-US" b="1" dirty="0"/>
              <a:t>Step-2:  </a:t>
            </a:r>
            <a:r>
              <a:rPr lang="en-US" dirty="0"/>
              <a:t>Removing all punctuations like (“, . ; !) [Data cleaning]</a:t>
            </a:r>
            <a:endParaRPr lang="en-IN" dirty="0"/>
          </a:p>
        </p:txBody>
      </p:sp>
    </p:spTree>
    <p:extLst>
      <p:ext uri="{BB962C8B-B14F-4D97-AF65-F5344CB8AC3E}">
        <p14:creationId xmlns:p14="http://schemas.microsoft.com/office/powerpoint/2010/main" val="38087476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05BBF-40D6-E648-5643-4D61F55B7B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2CC38-C2E8-3DC7-3F02-CEBB69348DCE}"/>
              </a:ext>
            </a:extLst>
          </p:cNvPr>
          <p:cNvSpPr>
            <a:spLocks noGrp="1"/>
          </p:cNvSpPr>
          <p:nvPr>
            <p:ph type="title"/>
          </p:nvPr>
        </p:nvSpPr>
        <p:spPr>
          <a:xfrm>
            <a:off x="459307" y="0"/>
            <a:ext cx="10515600" cy="1325563"/>
          </a:xfrm>
          <a:ln>
            <a:miter lim="800000"/>
            <a:headEnd/>
            <a:tailEnd/>
          </a:ln>
        </p:spPr>
        <p:txBody>
          <a:bodyPr rtlCol="0">
            <a:normAutofit/>
          </a:bodyPr>
          <a:lstStyle/>
          <a:p>
            <a:pPr eaLnBrk="1" fontAlgn="auto" hangingPunct="1">
              <a:spcAft>
                <a:spcPts val="0"/>
              </a:spcAft>
              <a:defRPr/>
            </a:pPr>
            <a:r>
              <a:rPr lang="en-IN"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METHODOLOGY:-</a:t>
            </a:r>
            <a:r>
              <a:rPr lang="en-AU"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endParaRPr lang="en-IN" sz="4000" b="1" dirty="0"/>
          </a:p>
        </p:txBody>
      </p:sp>
      <p:sp>
        <p:nvSpPr>
          <p:cNvPr id="9219" name="Content Placeholder 7">
            <a:extLst>
              <a:ext uri="{FF2B5EF4-FFF2-40B4-BE49-F238E27FC236}">
                <a16:creationId xmlns:a16="http://schemas.microsoft.com/office/drawing/2014/main" id="{B0306ACB-FCFB-1A59-B973-7C8569B7FB90}"/>
              </a:ext>
            </a:extLst>
          </p:cNvPr>
          <p:cNvSpPr>
            <a:spLocks noGrp="1" noChangeArrowheads="1"/>
          </p:cNvSpPr>
          <p:nvPr>
            <p:ph sz="half" idx="1"/>
          </p:nvPr>
        </p:nvSpPr>
        <p:spPr>
          <a:xfrm>
            <a:off x="519214" y="845661"/>
            <a:ext cx="11153572" cy="1938992"/>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indent="0">
              <a:lnSpc>
                <a:spcPct val="100000"/>
              </a:lnSpc>
              <a:spcBef>
                <a:spcPct val="0"/>
              </a:spcBef>
              <a:buNone/>
            </a:pPr>
            <a:endParaRPr lang="en-US" altLang="en-US" sz="2400" dirty="0">
              <a:latin typeface="Times New Roman" panose="02020603050405020304" pitchFamily="18" charset="0"/>
              <a:cs typeface="Times New Roman" panose="02020603050405020304" pitchFamily="18" charset="0"/>
            </a:endParaRPr>
          </a:p>
          <a:p>
            <a:pPr marL="0" indent="0">
              <a:lnSpc>
                <a:spcPct val="100000"/>
              </a:lnSpc>
              <a:spcBef>
                <a:spcPct val="0"/>
              </a:spcBef>
              <a:buFontTx/>
              <a:buChar char="•"/>
            </a:pPr>
            <a:r>
              <a:rPr lang="en-US" altLang="en-US" sz="2400" b="1" dirty="0">
                <a:latin typeface="Times New Roman" panose="02020603050405020304" pitchFamily="18" charset="0"/>
                <a:cs typeface="Times New Roman" panose="02020603050405020304" pitchFamily="18" charset="0"/>
              </a:rPr>
              <a:t>Data Preprocessing:</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Text data was cleaned by converting to lowercase, removing punctuation and stop words.</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Lemmatization was applied to reduce words to their base form for better consistency.</a:t>
            </a:r>
          </a:p>
          <a:p>
            <a:pPr marL="0" indent="0">
              <a:lnSpc>
                <a:spcPct val="100000"/>
              </a:lnSpc>
              <a:spcBef>
                <a:spcPct val="0"/>
              </a:spcBef>
              <a:buNone/>
            </a:pPr>
            <a:endParaRPr lang="en-US" alt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9CBF3DD-2C30-6BE8-C4E3-504F6D6F146F}"/>
              </a:ext>
            </a:extLst>
          </p:cNvPr>
          <p:cNvPicPr>
            <a:picLocks noChangeAspect="1"/>
          </p:cNvPicPr>
          <p:nvPr/>
        </p:nvPicPr>
        <p:blipFill>
          <a:blip r:embed="rId2"/>
          <a:stretch>
            <a:fillRect/>
          </a:stretch>
        </p:blipFill>
        <p:spPr>
          <a:xfrm>
            <a:off x="3255145" y="3158726"/>
            <a:ext cx="7382905" cy="2301565"/>
          </a:xfrm>
          <a:prstGeom prst="rect">
            <a:avLst/>
          </a:prstGeom>
        </p:spPr>
      </p:pic>
      <p:sp>
        <p:nvSpPr>
          <p:cNvPr id="3" name="TextBox 2">
            <a:extLst>
              <a:ext uri="{FF2B5EF4-FFF2-40B4-BE49-F238E27FC236}">
                <a16:creationId xmlns:a16="http://schemas.microsoft.com/office/drawing/2014/main" id="{54924749-E458-715D-0BFF-985D16DB4C54}"/>
              </a:ext>
            </a:extLst>
          </p:cNvPr>
          <p:cNvSpPr txBox="1"/>
          <p:nvPr/>
        </p:nvSpPr>
        <p:spPr>
          <a:xfrm>
            <a:off x="3402038" y="2537476"/>
            <a:ext cx="3544560" cy="369332"/>
          </a:xfrm>
          <a:prstGeom prst="rect">
            <a:avLst/>
          </a:prstGeom>
          <a:noFill/>
        </p:spPr>
        <p:txBody>
          <a:bodyPr wrap="none" rtlCol="0">
            <a:spAutoFit/>
          </a:bodyPr>
          <a:lstStyle/>
          <a:p>
            <a:pPr algn="r"/>
            <a:r>
              <a:rPr lang="en-US" b="1" dirty="0"/>
              <a:t>Step-3: </a:t>
            </a:r>
            <a:r>
              <a:rPr lang="en-US" dirty="0"/>
              <a:t>Removing all stop words</a:t>
            </a:r>
            <a:endParaRPr lang="en-IN" dirty="0"/>
          </a:p>
        </p:txBody>
      </p:sp>
      <p:sp>
        <p:nvSpPr>
          <p:cNvPr id="7" name="TextBox 6">
            <a:extLst>
              <a:ext uri="{FF2B5EF4-FFF2-40B4-BE49-F238E27FC236}">
                <a16:creationId xmlns:a16="http://schemas.microsoft.com/office/drawing/2014/main" id="{D7398DA4-AA6A-CF3C-3665-94493BE09115}"/>
              </a:ext>
            </a:extLst>
          </p:cNvPr>
          <p:cNvSpPr txBox="1"/>
          <p:nvPr/>
        </p:nvSpPr>
        <p:spPr>
          <a:xfrm>
            <a:off x="2271106" y="5712209"/>
            <a:ext cx="7649788" cy="646331"/>
          </a:xfrm>
          <a:prstGeom prst="rect">
            <a:avLst/>
          </a:prstGeom>
          <a:noFill/>
        </p:spPr>
        <p:txBody>
          <a:bodyPr wrap="square">
            <a:spAutoFit/>
          </a:bodyPr>
          <a:lstStyle/>
          <a:p>
            <a:r>
              <a:rPr lang="en-US" b="1" u="sng" dirty="0"/>
              <a:t>Note:</a:t>
            </a:r>
            <a:r>
              <a:rPr lang="en-US" b="1" dirty="0"/>
              <a:t>    </a:t>
            </a:r>
            <a:r>
              <a:rPr lang="en-US" dirty="0"/>
              <a:t>Stop words are common words used in English language </a:t>
            </a:r>
          </a:p>
          <a:p>
            <a:r>
              <a:rPr lang="en-US" dirty="0"/>
              <a:t>              such as </a:t>
            </a:r>
            <a:r>
              <a:rPr lang="en-US" b="1" dirty="0"/>
              <a:t>“a” , “the”, “is”, “in”</a:t>
            </a:r>
            <a:r>
              <a:rPr lang="en-US" dirty="0"/>
              <a:t> </a:t>
            </a:r>
            <a:r>
              <a:rPr lang="en-US" dirty="0" err="1"/>
              <a:t>etc</a:t>
            </a:r>
            <a:r>
              <a:rPr lang="en-US" dirty="0"/>
              <a:t> for sentence formation </a:t>
            </a:r>
            <a:endParaRPr lang="en-IN" dirty="0"/>
          </a:p>
        </p:txBody>
      </p:sp>
    </p:spTree>
    <p:extLst>
      <p:ext uri="{BB962C8B-B14F-4D97-AF65-F5344CB8AC3E}">
        <p14:creationId xmlns:p14="http://schemas.microsoft.com/office/powerpoint/2010/main" val="3649935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8AE60-7103-5CE4-CC88-86C745E04B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C6C948-88C4-600F-EF03-DF1950E0E5F1}"/>
              </a:ext>
            </a:extLst>
          </p:cNvPr>
          <p:cNvSpPr>
            <a:spLocks noGrp="1"/>
          </p:cNvSpPr>
          <p:nvPr>
            <p:ph type="title"/>
          </p:nvPr>
        </p:nvSpPr>
        <p:spPr>
          <a:xfrm>
            <a:off x="459307" y="0"/>
            <a:ext cx="10515600" cy="1325563"/>
          </a:xfrm>
          <a:ln>
            <a:miter lim="800000"/>
            <a:headEnd/>
            <a:tailEnd/>
          </a:ln>
        </p:spPr>
        <p:txBody>
          <a:bodyPr rtlCol="0">
            <a:normAutofit/>
          </a:bodyPr>
          <a:lstStyle/>
          <a:p>
            <a:pPr eaLnBrk="1" fontAlgn="auto" hangingPunct="1">
              <a:spcAft>
                <a:spcPts val="0"/>
              </a:spcAft>
              <a:defRPr/>
            </a:pPr>
            <a:r>
              <a:rPr lang="en-IN"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METHODOLOGY:-</a:t>
            </a:r>
            <a:r>
              <a:rPr lang="en-AU"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endParaRPr lang="en-IN" sz="4000" b="1" dirty="0"/>
          </a:p>
        </p:txBody>
      </p:sp>
      <p:sp>
        <p:nvSpPr>
          <p:cNvPr id="9219" name="Content Placeholder 7">
            <a:extLst>
              <a:ext uri="{FF2B5EF4-FFF2-40B4-BE49-F238E27FC236}">
                <a16:creationId xmlns:a16="http://schemas.microsoft.com/office/drawing/2014/main" id="{62AD8C37-BFF9-9101-D379-6AC516CD5782}"/>
              </a:ext>
            </a:extLst>
          </p:cNvPr>
          <p:cNvSpPr>
            <a:spLocks noGrp="1" noChangeArrowheads="1"/>
          </p:cNvSpPr>
          <p:nvPr>
            <p:ph sz="half" idx="1"/>
          </p:nvPr>
        </p:nvSpPr>
        <p:spPr>
          <a:xfrm>
            <a:off x="361272" y="1017221"/>
            <a:ext cx="11672786" cy="120032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00000"/>
              </a:lnSpc>
              <a:spcBef>
                <a:spcPct val="0"/>
              </a:spcBef>
            </a:pPr>
            <a:r>
              <a:rPr lang="en-US" altLang="en-US" sz="2400" b="1" dirty="0">
                <a:latin typeface="Times New Roman" panose="02020603050405020304" pitchFamily="18" charset="0"/>
                <a:cs typeface="Times New Roman" panose="02020603050405020304" pitchFamily="18" charset="0"/>
              </a:rPr>
              <a:t>Data Preprocessing:</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Text data was cleaned by converting to lowercase, removing punctuation and stop words. Lemmatization was applied to reduce words to their base form for better consistency.</a:t>
            </a:r>
          </a:p>
        </p:txBody>
      </p:sp>
      <p:pic>
        <p:nvPicPr>
          <p:cNvPr id="4" name="Picture 3">
            <a:extLst>
              <a:ext uri="{FF2B5EF4-FFF2-40B4-BE49-F238E27FC236}">
                <a16:creationId xmlns:a16="http://schemas.microsoft.com/office/drawing/2014/main" id="{A85B1820-34AB-DDFD-26EA-23976D1D09CE}"/>
              </a:ext>
            </a:extLst>
          </p:cNvPr>
          <p:cNvPicPr>
            <a:picLocks noChangeAspect="1"/>
          </p:cNvPicPr>
          <p:nvPr/>
        </p:nvPicPr>
        <p:blipFill>
          <a:blip r:embed="rId2"/>
          <a:stretch>
            <a:fillRect/>
          </a:stretch>
        </p:blipFill>
        <p:spPr>
          <a:xfrm>
            <a:off x="1672453" y="3003604"/>
            <a:ext cx="6335009" cy="3115110"/>
          </a:xfrm>
          <a:prstGeom prst="rect">
            <a:avLst/>
          </a:prstGeom>
        </p:spPr>
      </p:pic>
      <p:sp>
        <p:nvSpPr>
          <p:cNvPr id="5" name="TextBox 4">
            <a:extLst>
              <a:ext uri="{FF2B5EF4-FFF2-40B4-BE49-F238E27FC236}">
                <a16:creationId xmlns:a16="http://schemas.microsoft.com/office/drawing/2014/main" id="{0160DA95-F5BF-DBB6-88A3-ED5A730F4B2B}"/>
              </a:ext>
            </a:extLst>
          </p:cNvPr>
          <p:cNvSpPr txBox="1"/>
          <p:nvPr/>
        </p:nvSpPr>
        <p:spPr>
          <a:xfrm>
            <a:off x="1565588" y="2425911"/>
            <a:ext cx="6109365" cy="369332"/>
          </a:xfrm>
          <a:prstGeom prst="rect">
            <a:avLst/>
          </a:prstGeom>
          <a:noFill/>
        </p:spPr>
        <p:txBody>
          <a:bodyPr wrap="none" rtlCol="0">
            <a:spAutoFit/>
          </a:bodyPr>
          <a:lstStyle/>
          <a:p>
            <a:pPr algn="r"/>
            <a:r>
              <a:rPr lang="en-US" b="1" dirty="0"/>
              <a:t>Step-4: </a:t>
            </a:r>
            <a:r>
              <a:rPr lang="en-US" dirty="0"/>
              <a:t>Converting all sentences to tokens [ tokenization ]</a:t>
            </a:r>
            <a:endParaRPr lang="en-IN" dirty="0"/>
          </a:p>
        </p:txBody>
      </p:sp>
      <p:sp>
        <p:nvSpPr>
          <p:cNvPr id="6" name="TextBox 5">
            <a:extLst>
              <a:ext uri="{FF2B5EF4-FFF2-40B4-BE49-F238E27FC236}">
                <a16:creationId xmlns:a16="http://schemas.microsoft.com/office/drawing/2014/main" id="{3CB7A377-9BD8-C5FF-F6FB-65DC8F354248}"/>
              </a:ext>
            </a:extLst>
          </p:cNvPr>
          <p:cNvSpPr txBox="1"/>
          <p:nvPr/>
        </p:nvSpPr>
        <p:spPr>
          <a:xfrm>
            <a:off x="8074655" y="3429000"/>
            <a:ext cx="3852337" cy="2031325"/>
          </a:xfrm>
          <a:prstGeom prst="rect">
            <a:avLst/>
          </a:prstGeom>
          <a:noFill/>
        </p:spPr>
        <p:txBody>
          <a:bodyPr wrap="none" rtlCol="0">
            <a:spAutoFit/>
          </a:bodyPr>
          <a:lstStyle/>
          <a:p>
            <a:pPr>
              <a:lnSpc>
                <a:spcPct val="150000"/>
              </a:lnSpc>
            </a:pPr>
            <a:r>
              <a:rPr lang="en-US" b="1" dirty="0"/>
              <a:t>            </a:t>
            </a:r>
            <a:r>
              <a:rPr lang="en-US" b="1" u="sng" dirty="0"/>
              <a:t>Note:</a:t>
            </a:r>
            <a:r>
              <a:rPr lang="en-US" b="1" dirty="0"/>
              <a:t> </a:t>
            </a:r>
          </a:p>
          <a:p>
            <a:pPr>
              <a:lnSpc>
                <a:spcPct val="150000"/>
              </a:lnSpc>
            </a:pPr>
            <a:r>
              <a:rPr lang="en-US" b="1" dirty="0"/>
              <a:t>            Tokens </a:t>
            </a:r>
            <a:r>
              <a:rPr lang="en-US" dirty="0"/>
              <a:t>are</a:t>
            </a:r>
            <a:r>
              <a:rPr lang="en-US" b="1" dirty="0"/>
              <a:t> </a:t>
            </a:r>
            <a:r>
              <a:rPr lang="en-US" dirty="0"/>
              <a:t>the individual </a:t>
            </a:r>
          </a:p>
          <a:p>
            <a:r>
              <a:rPr lang="en-US" dirty="0"/>
              <a:t>            units of text, such as words,</a:t>
            </a:r>
          </a:p>
          <a:p>
            <a:r>
              <a:rPr lang="en-US" dirty="0"/>
              <a:t>            characters, or sub-words, </a:t>
            </a:r>
          </a:p>
          <a:p>
            <a:r>
              <a:rPr lang="en-US" dirty="0"/>
              <a:t>            created by breaking down a </a:t>
            </a:r>
          </a:p>
          <a:p>
            <a:r>
              <a:rPr lang="en-US" dirty="0"/>
              <a:t>            larger piece of text</a:t>
            </a:r>
            <a:r>
              <a:rPr lang="en-US" b="1" dirty="0"/>
              <a:t> </a:t>
            </a:r>
            <a:endParaRPr lang="en-IN" dirty="0"/>
          </a:p>
        </p:txBody>
      </p:sp>
    </p:spTree>
    <p:extLst>
      <p:ext uri="{BB962C8B-B14F-4D97-AF65-F5344CB8AC3E}">
        <p14:creationId xmlns:p14="http://schemas.microsoft.com/office/powerpoint/2010/main" val="27461036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08992-DC01-2B2E-B662-39A3C7856D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9CF340-30D6-8CD6-CD72-FE5E1E3AAAA0}"/>
              </a:ext>
            </a:extLst>
          </p:cNvPr>
          <p:cNvSpPr>
            <a:spLocks noGrp="1"/>
          </p:cNvSpPr>
          <p:nvPr>
            <p:ph type="title"/>
          </p:nvPr>
        </p:nvSpPr>
        <p:spPr>
          <a:xfrm>
            <a:off x="459307" y="0"/>
            <a:ext cx="10515600" cy="1325563"/>
          </a:xfrm>
          <a:ln>
            <a:miter lim="800000"/>
            <a:headEnd/>
            <a:tailEnd/>
          </a:ln>
        </p:spPr>
        <p:txBody>
          <a:bodyPr rtlCol="0">
            <a:normAutofit/>
          </a:bodyPr>
          <a:lstStyle/>
          <a:p>
            <a:pPr eaLnBrk="1" fontAlgn="auto" hangingPunct="1">
              <a:spcAft>
                <a:spcPts val="0"/>
              </a:spcAft>
              <a:defRPr/>
            </a:pPr>
            <a:r>
              <a:rPr lang="en-IN"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METHODOLOGY:-</a:t>
            </a:r>
            <a:r>
              <a:rPr lang="en-AU"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endParaRPr lang="en-IN" sz="4000" b="1" dirty="0"/>
          </a:p>
        </p:txBody>
      </p:sp>
      <p:sp>
        <p:nvSpPr>
          <p:cNvPr id="9219" name="Content Placeholder 7">
            <a:extLst>
              <a:ext uri="{FF2B5EF4-FFF2-40B4-BE49-F238E27FC236}">
                <a16:creationId xmlns:a16="http://schemas.microsoft.com/office/drawing/2014/main" id="{BB5C9845-FB79-24F1-86C7-2FDCD7C89C3A}"/>
              </a:ext>
            </a:extLst>
          </p:cNvPr>
          <p:cNvSpPr>
            <a:spLocks noGrp="1" noChangeArrowheads="1"/>
          </p:cNvSpPr>
          <p:nvPr>
            <p:ph sz="half" idx="1"/>
          </p:nvPr>
        </p:nvSpPr>
        <p:spPr>
          <a:xfrm>
            <a:off x="459307" y="802060"/>
            <a:ext cx="11153572" cy="1938992"/>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indent="0">
              <a:lnSpc>
                <a:spcPct val="100000"/>
              </a:lnSpc>
              <a:spcBef>
                <a:spcPct val="0"/>
              </a:spcBef>
              <a:buNone/>
            </a:pPr>
            <a:endParaRPr lang="en-US" altLang="en-US" sz="2400" dirty="0">
              <a:latin typeface="Times New Roman" panose="02020603050405020304" pitchFamily="18" charset="0"/>
              <a:cs typeface="Times New Roman" panose="02020603050405020304" pitchFamily="18" charset="0"/>
            </a:endParaRPr>
          </a:p>
          <a:p>
            <a:pPr marL="0" indent="0">
              <a:lnSpc>
                <a:spcPct val="100000"/>
              </a:lnSpc>
              <a:spcBef>
                <a:spcPct val="0"/>
              </a:spcBef>
              <a:buFontTx/>
              <a:buChar char="•"/>
            </a:pPr>
            <a:r>
              <a:rPr lang="en-US" altLang="en-US" sz="2400" b="1" dirty="0">
                <a:latin typeface="Times New Roman" panose="02020603050405020304" pitchFamily="18" charset="0"/>
                <a:cs typeface="Times New Roman" panose="02020603050405020304" pitchFamily="18" charset="0"/>
              </a:rPr>
              <a:t>Data Preprocessing:</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Text data was cleaned by converting to lowercase, removing punctuation and stop words.</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Lemmatization was applied to reduce words to their base form for better consistency.</a:t>
            </a:r>
          </a:p>
          <a:p>
            <a:pPr marL="0" indent="0">
              <a:lnSpc>
                <a:spcPct val="100000"/>
              </a:lnSpc>
              <a:spcBef>
                <a:spcPct val="0"/>
              </a:spcBef>
              <a:buNone/>
            </a:pPr>
            <a:endParaRPr lang="en-US" alt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C498E85-7D35-84E3-DABE-B9AA963A2D5A}"/>
              </a:ext>
            </a:extLst>
          </p:cNvPr>
          <p:cNvPicPr>
            <a:picLocks noChangeAspect="1"/>
          </p:cNvPicPr>
          <p:nvPr/>
        </p:nvPicPr>
        <p:blipFill>
          <a:blip r:embed="rId2"/>
          <a:stretch>
            <a:fillRect/>
          </a:stretch>
        </p:blipFill>
        <p:spPr>
          <a:xfrm>
            <a:off x="694119" y="3060576"/>
            <a:ext cx="7392432" cy="2457793"/>
          </a:xfrm>
          <a:prstGeom prst="rect">
            <a:avLst/>
          </a:prstGeom>
        </p:spPr>
      </p:pic>
      <p:sp>
        <p:nvSpPr>
          <p:cNvPr id="5" name="TextBox 4">
            <a:extLst>
              <a:ext uri="{FF2B5EF4-FFF2-40B4-BE49-F238E27FC236}">
                <a16:creationId xmlns:a16="http://schemas.microsoft.com/office/drawing/2014/main" id="{B57726BF-37C5-7B2D-7092-3A3BEB3651C7}"/>
              </a:ext>
            </a:extLst>
          </p:cNvPr>
          <p:cNvSpPr txBox="1"/>
          <p:nvPr/>
        </p:nvSpPr>
        <p:spPr>
          <a:xfrm>
            <a:off x="1109809" y="2499784"/>
            <a:ext cx="6058069" cy="369332"/>
          </a:xfrm>
          <a:prstGeom prst="rect">
            <a:avLst/>
          </a:prstGeom>
          <a:noFill/>
        </p:spPr>
        <p:txBody>
          <a:bodyPr wrap="none" rtlCol="0">
            <a:spAutoFit/>
          </a:bodyPr>
          <a:lstStyle/>
          <a:p>
            <a:pPr algn="r"/>
            <a:r>
              <a:rPr lang="en-US" b="1" dirty="0"/>
              <a:t>Step-5: </a:t>
            </a:r>
            <a:r>
              <a:rPr lang="en-US" dirty="0"/>
              <a:t>Converting all tokens to lemmas [ lemmatization ]</a:t>
            </a:r>
            <a:endParaRPr lang="en-IN" dirty="0"/>
          </a:p>
        </p:txBody>
      </p:sp>
      <p:sp>
        <p:nvSpPr>
          <p:cNvPr id="6" name="TextBox 5">
            <a:extLst>
              <a:ext uri="{FF2B5EF4-FFF2-40B4-BE49-F238E27FC236}">
                <a16:creationId xmlns:a16="http://schemas.microsoft.com/office/drawing/2014/main" id="{5767B1F8-5C2D-C152-2D65-CA495E068063}"/>
              </a:ext>
            </a:extLst>
          </p:cNvPr>
          <p:cNvSpPr txBox="1"/>
          <p:nvPr/>
        </p:nvSpPr>
        <p:spPr>
          <a:xfrm>
            <a:off x="8545482" y="2812144"/>
            <a:ext cx="2846763" cy="1477328"/>
          </a:xfrm>
          <a:prstGeom prst="rect">
            <a:avLst/>
          </a:prstGeom>
          <a:noFill/>
        </p:spPr>
        <p:txBody>
          <a:bodyPr wrap="square">
            <a:spAutoFit/>
          </a:bodyPr>
          <a:lstStyle/>
          <a:p>
            <a:r>
              <a:rPr lang="en-US" b="1" u="sng" dirty="0"/>
              <a:t>Note</a:t>
            </a:r>
            <a:r>
              <a:rPr lang="en-US" b="1" dirty="0"/>
              <a:t>:  </a:t>
            </a:r>
            <a:r>
              <a:rPr lang="en-US" dirty="0"/>
              <a:t>A lemma in NLP is the base or dictionary form of a word</a:t>
            </a:r>
          </a:p>
          <a:p>
            <a:endParaRPr lang="en-US" dirty="0"/>
          </a:p>
          <a:p>
            <a:r>
              <a:rPr lang="en-US" b="1" dirty="0"/>
              <a:t>Example:</a:t>
            </a:r>
            <a:endParaRPr lang="en-IN" b="1" dirty="0"/>
          </a:p>
        </p:txBody>
      </p:sp>
      <p:pic>
        <p:nvPicPr>
          <p:cNvPr id="1026" name="Picture 2" descr="Lemmatization">
            <a:extLst>
              <a:ext uri="{FF2B5EF4-FFF2-40B4-BE49-F238E27FC236}">
                <a16:creationId xmlns:a16="http://schemas.microsoft.com/office/drawing/2014/main" id="{F31C7F86-482A-EA9F-2347-D03216892A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61489" y="4358217"/>
            <a:ext cx="3596640" cy="120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99245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B9FF2-801C-92BB-CE6D-87DDBDD133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FD0E30-37FC-CCDA-89A9-3C0103F3CFF6}"/>
              </a:ext>
            </a:extLst>
          </p:cNvPr>
          <p:cNvSpPr>
            <a:spLocks noGrp="1"/>
          </p:cNvSpPr>
          <p:nvPr>
            <p:ph type="title"/>
          </p:nvPr>
        </p:nvSpPr>
        <p:spPr>
          <a:xfrm>
            <a:off x="459307" y="0"/>
            <a:ext cx="10515600" cy="1325563"/>
          </a:xfrm>
          <a:ln>
            <a:miter lim="800000"/>
            <a:headEnd/>
            <a:tailEnd/>
          </a:ln>
        </p:spPr>
        <p:txBody>
          <a:bodyPr rtlCol="0">
            <a:normAutofit/>
          </a:bodyPr>
          <a:lstStyle/>
          <a:p>
            <a:pPr eaLnBrk="1" fontAlgn="auto" hangingPunct="1">
              <a:spcAft>
                <a:spcPts val="0"/>
              </a:spcAft>
              <a:defRPr/>
            </a:pPr>
            <a:r>
              <a:rPr lang="en-IN"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METHODOLOGY:-</a:t>
            </a:r>
            <a:r>
              <a:rPr lang="en-AU"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endParaRPr lang="en-IN" sz="4000" b="1" dirty="0"/>
          </a:p>
        </p:txBody>
      </p:sp>
      <p:sp>
        <p:nvSpPr>
          <p:cNvPr id="9219" name="Content Placeholder 7">
            <a:extLst>
              <a:ext uri="{FF2B5EF4-FFF2-40B4-BE49-F238E27FC236}">
                <a16:creationId xmlns:a16="http://schemas.microsoft.com/office/drawing/2014/main" id="{AB655347-EB7A-2120-5C9C-EB66DFAFA7CA}"/>
              </a:ext>
            </a:extLst>
          </p:cNvPr>
          <p:cNvSpPr>
            <a:spLocks noGrp="1" noChangeArrowheads="1"/>
          </p:cNvSpPr>
          <p:nvPr>
            <p:ph sz="half" idx="1"/>
          </p:nvPr>
        </p:nvSpPr>
        <p:spPr>
          <a:xfrm>
            <a:off x="459307" y="1098864"/>
            <a:ext cx="11444518" cy="120032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indent="0">
              <a:lnSpc>
                <a:spcPct val="100000"/>
              </a:lnSpc>
              <a:spcBef>
                <a:spcPct val="0"/>
              </a:spcBef>
              <a:buFontTx/>
              <a:buChar char="•"/>
            </a:pPr>
            <a:r>
              <a:rPr lang="en-US" altLang="en-US" sz="2400" b="1" dirty="0">
                <a:latin typeface="Times New Roman" panose="02020603050405020304" pitchFamily="18" charset="0"/>
                <a:cs typeface="Times New Roman" panose="02020603050405020304" pitchFamily="18" charset="0"/>
              </a:rPr>
              <a:t>Feature Extraction:</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TF–IDF (Term Frequency–Inverse Document Frequency) was used to convert text into numerical form. </a:t>
            </a:r>
            <a:r>
              <a:rPr lang="en-US" altLang="en-US" sz="2400" u="sng" dirty="0">
                <a:latin typeface="Times New Roman" panose="02020603050405020304" pitchFamily="18" charset="0"/>
                <a:cs typeface="Times New Roman" panose="02020603050405020304" pitchFamily="18" charset="0"/>
              </a:rPr>
              <a:t>This helps highlight important words in each review while reducing noise</a:t>
            </a:r>
            <a:r>
              <a:rPr lang="en-US" altLang="en-US" sz="2400" dirty="0">
                <a:latin typeface="Times New Roman" panose="02020603050405020304" pitchFamily="18" charset="0"/>
                <a:cs typeface="Times New Roman" panose="02020603050405020304" pitchFamily="18" charset="0"/>
              </a:rPr>
              <a:t>.</a:t>
            </a:r>
          </a:p>
        </p:txBody>
      </p:sp>
      <p:pic>
        <p:nvPicPr>
          <p:cNvPr id="4" name="Picture 3">
            <a:extLst>
              <a:ext uri="{FF2B5EF4-FFF2-40B4-BE49-F238E27FC236}">
                <a16:creationId xmlns:a16="http://schemas.microsoft.com/office/drawing/2014/main" id="{42A182CE-B199-0033-6444-A41EF50E8921}"/>
              </a:ext>
            </a:extLst>
          </p:cNvPr>
          <p:cNvPicPr>
            <a:picLocks noChangeAspect="1"/>
          </p:cNvPicPr>
          <p:nvPr/>
        </p:nvPicPr>
        <p:blipFill>
          <a:blip r:embed="rId2"/>
          <a:stretch>
            <a:fillRect/>
          </a:stretch>
        </p:blipFill>
        <p:spPr>
          <a:xfrm>
            <a:off x="1297402" y="3225132"/>
            <a:ext cx="8516539" cy="2534004"/>
          </a:xfrm>
          <a:prstGeom prst="rect">
            <a:avLst/>
          </a:prstGeom>
        </p:spPr>
      </p:pic>
      <p:sp>
        <p:nvSpPr>
          <p:cNvPr id="5" name="TextBox 4">
            <a:extLst>
              <a:ext uri="{FF2B5EF4-FFF2-40B4-BE49-F238E27FC236}">
                <a16:creationId xmlns:a16="http://schemas.microsoft.com/office/drawing/2014/main" id="{D427FE18-CB06-02DE-8FD9-C1219FF7BA9C}"/>
              </a:ext>
            </a:extLst>
          </p:cNvPr>
          <p:cNvSpPr txBox="1"/>
          <p:nvPr/>
        </p:nvSpPr>
        <p:spPr>
          <a:xfrm>
            <a:off x="1208469" y="2515867"/>
            <a:ext cx="7597016" cy="369332"/>
          </a:xfrm>
          <a:prstGeom prst="rect">
            <a:avLst/>
          </a:prstGeom>
          <a:noFill/>
        </p:spPr>
        <p:txBody>
          <a:bodyPr wrap="none" rtlCol="0">
            <a:spAutoFit/>
          </a:bodyPr>
          <a:lstStyle/>
          <a:p>
            <a:pPr algn="r"/>
            <a:r>
              <a:rPr lang="en-US" b="1" dirty="0"/>
              <a:t>Step-6: </a:t>
            </a:r>
            <a:r>
              <a:rPr lang="en-US" dirty="0"/>
              <a:t>Conversion of text into numerical form using Count Vectorization.</a:t>
            </a:r>
            <a:endParaRPr lang="en-IN" dirty="0"/>
          </a:p>
        </p:txBody>
      </p:sp>
    </p:spTree>
    <p:extLst>
      <p:ext uri="{BB962C8B-B14F-4D97-AF65-F5344CB8AC3E}">
        <p14:creationId xmlns:p14="http://schemas.microsoft.com/office/powerpoint/2010/main" val="29263360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33DEC-AC60-F2E0-D0D2-5EACC307A8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B56FF-11EC-4C65-1BD2-ECD31A3CFA03}"/>
              </a:ext>
            </a:extLst>
          </p:cNvPr>
          <p:cNvSpPr>
            <a:spLocks noGrp="1"/>
          </p:cNvSpPr>
          <p:nvPr>
            <p:ph type="title"/>
          </p:nvPr>
        </p:nvSpPr>
        <p:spPr>
          <a:xfrm>
            <a:off x="459307" y="0"/>
            <a:ext cx="10515600" cy="1325563"/>
          </a:xfrm>
          <a:ln>
            <a:miter lim="800000"/>
            <a:headEnd/>
            <a:tailEnd/>
          </a:ln>
        </p:spPr>
        <p:txBody>
          <a:bodyPr rtlCol="0">
            <a:normAutofit/>
          </a:bodyPr>
          <a:lstStyle/>
          <a:p>
            <a:pPr eaLnBrk="1" fontAlgn="auto" hangingPunct="1">
              <a:spcAft>
                <a:spcPts val="0"/>
              </a:spcAft>
              <a:defRPr/>
            </a:pPr>
            <a:r>
              <a:rPr lang="en-IN"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METHODOLOGY:-</a:t>
            </a:r>
            <a:r>
              <a:rPr lang="en-AU"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endParaRPr lang="en-IN" sz="4000" b="1" dirty="0"/>
          </a:p>
        </p:txBody>
      </p:sp>
      <p:sp>
        <p:nvSpPr>
          <p:cNvPr id="9219" name="Content Placeholder 7">
            <a:extLst>
              <a:ext uri="{FF2B5EF4-FFF2-40B4-BE49-F238E27FC236}">
                <a16:creationId xmlns:a16="http://schemas.microsoft.com/office/drawing/2014/main" id="{41880BC2-5829-021D-9E3A-4146BFC949A8}"/>
              </a:ext>
            </a:extLst>
          </p:cNvPr>
          <p:cNvSpPr>
            <a:spLocks noGrp="1" noChangeArrowheads="1"/>
          </p:cNvSpPr>
          <p:nvPr>
            <p:ph sz="half" idx="1"/>
          </p:nvPr>
        </p:nvSpPr>
        <p:spPr>
          <a:xfrm>
            <a:off x="459307" y="1098864"/>
            <a:ext cx="11444518" cy="1200329"/>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indent="0">
              <a:lnSpc>
                <a:spcPct val="100000"/>
              </a:lnSpc>
              <a:spcBef>
                <a:spcPct val="0"/>
              </a:spcBef>
              <a:buFontTx/>
              <a:buChar char="•"/>
            </a:pPr>
            <a:r>
              <a:rPr lang="en-US" altLang="en-US" sz="2400" b="1" dirty="0">
                <a:latin typeface="Times New Roman" panose="02020603050405020304" pitchFamily="18" charset="0"/>
                <a:cs typeface="Times New Roman" panose="02020603050405020304" pitchFamily="18" charset="0"/>
              </a:rPr>
              <a:t>Feature Extraction:</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TF–IDF (Term Frequency–Inverse Document Frequency) was used to convert text into numerical form. </a:t>
            </a:r>
            <a:r>
              <a:rPr lang="en-US" altLang="en-US" sz="2400" u="sng" dirty="0">
                <a:latin typeface="Times New Roman" panose="02020603050405020304" pitchFamily="18" charset="0"/>
                <a:cs typeface="Times New Roman" panose="02020603050405020304" pitchFamily="18" charset="0"/>
              </a:rPr>
              <a:t>This helps highlight important words in each review while reducing noise</a:t>
            </a:r>
            <a:r>
              <a:rPr lang="en-US" altLang="en-US" sz="24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81195CA7-D671-C46B-4604-3CB240F4AA83}"/>
              </a:ext>
            </a:extLst>
          </p:cNvPr>
          <p:cNvSpPr txBox="1"/>
          <p:nvPr/>
        </p:nvSpPr>
        <p:spPr>
          <a:xfrm>
            <a:off x="1033100" y="2515867"/>
            <a:ext cx="7772385" cy="369332"/>
          </a:xfrm>
          <a:prstGeom prst="rect">
            <a:avLst/>
          </a:prstGeom>
          <a:noFill/>
        </p:spPr>
        <p:txBody>
          <a:bodyPr wrap="none" rtlCol="0">
            <a:spAutoFit/>
          </a:bodyPr>
          <a:lstStyle/>
          <a:p>
            <a:pPr algn="r"/>
            <a:r>
              <a:rPr lang="en-US" b="1" dirty="0"/>
              <a:t>Step-6: </a:t>
            </a:r>
            <a:r>
              <a:rPr lang="en-US" dirty="0"/>
              <a:t>Conversion of text into numerical form using TF-IDF Vectorization.</a:t>
            </a:r>
            <a:endParaRPr lang="en-IN" dirty="0"/>
          </a:p>
        </p:txBody>
      </p:sp>
      <p:pic>
        <p:nvPicPr>
          <p:cNvPr id="6" name="Picture 5">
            <a:extLst>
              <a:ext uri="{FF2B5EF4-FFF2-40B4-BE49-F238E27FC236}">
                <a16:creationId xmlns:a16="http://schemas.microsoft.com/office/drawing/2014/main" id="{6139D735-94AE-9215-9099-A70C60920986}"/>
              </a:ext>
            </a:extLst>
          </p:cNvPr>
          <p:cNvPicPr>
            <a:picLocks noChangeAspect="1"/>
          </p:cNvPicPr>
          <p:nvPr/>
        </p:nvPicPr>
        <p:blipFill>
          <a:blip r:embed="rId2"/>
          <a:stretch>
            <a:fillRect/>
          </a:stretch>
        </p:blipFill>
        <p:spPr>
          <a:xfrm>
            <a:off x="2235355" y="3175028"/>
            <a:ext cx="6058746" cy="2486372"/>
          </a:xfrm>
          <a:prstGeom prst="rect">
            <a:avLst/>
          </a:prstGeom>
        </p:spPr>
      </p:pic>
      <p:sp>
        <p:nvSpPr>
          <p:cNvPr id="7" name="TextBox 6">
            <a:extLst>
              <a:ext uri="{FF2B5EF4-FFF2-40B4-BE49-F238E27FC236}">
                <a16:creationId xmlns:a16="http://schemas.microsoft.com/office/drawing/2014/main" id="{10FBAAD1-7C1F-31F6-8D9F-80333C49C7C2}"/>
              </a:ext>
            </a:extLst>
          </p:cNvPr>
          <p:cNvSpPr txBox="1"/>
          <p:nvPr/>
        </p:nvSpPr>
        <p:spPr>
          <a:xfrm>
            <a:off x="2271106" y="5712209"/>
            <a:ext cx="7649788" cy="369332"/>
          </a:xfrm>
          <a:prstGeom prst="rect">
            <a:avLst/>
          </a:prstGeom>
          <a:noFill/>
        </p:spPr>
        <p:txBody>
          <a:bodyPr wrap="square">
            <a:spAutoFit/>
          </a:bodyPr>
          <a:lstStyle/>
          <a:p>
            <a:r>
              <a:rPr lang="en-US" b="1" u="sng" dirty="0"/>
              <a:t>Note</a:t>
            </a:r>
            <a:r>
              <a:rPr lang="en-US" b="1" dirty="0"/>
              <a:t>:  </a:t>
            </a:r>
            <a:r>
              <a:rPr lang="en-US" dirty="0"/>
              <a:t>All the 50,824 reviews are feature extracted to numerical form</a:t>
            </a:r>
            <a:endParaRPr lang="en-IN" dirty="0"/>
          </a:p>
        </p:txBody>
      </p:sp>
    </p:spTree>
    <p:extLst>
      <p:ext uri="{BB962C8B-B14F-4D97-AF65-F5344CB8AC3E}">
        <p14:creationId xmlns:p14="http://schemas.microsoft.com/office/powerpoint/2010/main" val="5863707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a:extLst>
              <a:ext uri="{FF2B5EF4-FFF2-40B4-BE49-F238E27FC236}">
                <a16:creationId xmlns:a16="http://schemas.microsoft.com/office/drawing/2014/main" id="{34FA5468-B18C-A332-EE14-94CDDBB6F28E}"/>
              </a:ext>
            </a:extLst>
          </p:cNvPr>
          <p:cNvSpPr>
            <a:spLocks noGrp="1" noChangeArrowheads="1"/>
          </p:cNvSpPr>
          <p:nvPr>
            <p:ph sz="half" idx="1"/>
          </p:nvPr>
        </p:nvSpPr>
        <p:spPr>
          <a:xfrm>
            <a:off x="545623" y="1436194"/>
            <a:ext cx="10906125" cy="4154984"/>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indent="0">
              <a:lnSpc>
                <a:spcPct val="100000"/>
              </a:lnSpc>
              <a:spcBef>
                <a:spcPct val="0"/>
              </a:spcBef>
              <a:buFontTx/>
              <a:buChar char="•"/>
            </a:pPr>
            <a:r>
              <a:rPr lang="en-US" altLang="en-US" sz="2400" b="1" dirty="0">
                <a:latin typeface="Times New Roman" panose="02020603050405020304" pitchFamily="18" charset="0"/>
                <a:cs typeface="Times New Roman" panose="02020603050405020304" pitchFamily="18" charset="0"/>
              </a:rPr>
              <a:t>Model Training:</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A Logistic Regression model was trained on 80% of the dataset and tested on 20%.</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It learns patterns from TF–IDF features to classify sentiments accurately.</a:t>
            </a:r>
          </a:p>
          <a:p>
            <a:pPr marL="0" indent="0">
              <a:lnSpc>
                <a:spcPct val="100000"/>
              </a:lnSpc>
              <a:spcBef>
                <a:spcPct val="0"/>
              </a:spcBef>
              <a:buFontTx/>
              <a:buChar char="•"/>
            </a:pPr>
            <a:endParaRPr lang="en-US" altLang="en-US" sz="2400" dirty="0">
              <a:latin typeface="Times New Roman" panose="02020603050405020304" pitchFamily="18" charset="0"/>
              <a:cs typeface="Times New Roman" panose="02020603050405020304" pitchFamily="18" charset="0"/>
            </a:endParaRPr>
          </a:p>
          <a:p>
            <a:pPr marL="0" indent="0">
              <a:lnSpc>
                <a:spcPct val="100000"/>
              </a:lnSpc>
              <a:spcBef>
                <a:spcPct val="0"/>
              </a:spcBef>
              <a:buFontTx/>
              <a:buChar char="•"/>
            </a:pPr>
            <a:r>
              <a:rPr lang="en-US" altLang="en-US" sz="2400" b="1" dirty="0">
                <a:latin typeface="Times New Roman" panose="02020603050405020304" pitchFamily="18" charset="0"/>
                <a:cs typeface="Times New Roman" panose="02020603050405020304" pitchFamily="18" charset="0"/>
              </a:rPr>
              <a:t>Model Evaluation:</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The model was evaluated using Accuracy, Precision, Recall, and F1-Score metrics.</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It achieved about </a:t>
            </a:r>
            <a:r>
              <a:rPr lang="en-US" altLang="en-US" sz="2400" b="1" dirty="0">
                <a:latin typeface="Times New Roman" panose="02020603050405020304" pitchFamily="18" charset="0"/>
                <a:cs typeface="Times New Roman" panose="02020603050405020304" pitchFamily="18" charset="0"/>
              </a:rPr>
              <a:t>89.73% accuracy</a:t>
            </a:r>
            <a:r>
              <a:rPr lang="en-US" altLang="en-US" sz="2400" dirty="0">
                <a:latin typeface="Times New Roman" panose="02020603050405020304" pitchFamily="18" charset="0"/>
                <a:cs typeface="Times New Roman" panose="02020603050405020304" pitchFamily="18" charset="0"/>
              </a:rPr>
              <a:t>, showing balanced and reliable performance.</a:t>
            </a:r>
          </a:p>
          <a:p>
            <a:pPr marL="0" indent="0">
              <a:lnSpc>
                <a:spcPct val="100000"/>
              </a:lnSpc>
              <a:spcBef>
                <a:spcPct val="0"/>
              </a:spcBef>
              <a:buFontTx/>
              <a:buChar char="•"/>
            </a:pPr>
            <a:endParaRPr lang="en-US" altLang="en-US" sz="2400" dirty="0">
              <a:latin typeface="Times New Roman" panose="02020603050405020304" pitchFamily="18" charset="0"/>
              <a:cs typeface="Times New Roman" panose="02020603050405020304" pitchFamily="18" charset="0"/>
            </a:endParaRPr>
          </a:p>
          <a:p>
            <a:pPr marL="0" indent="0">
              <a:lnSpc>
                <a:spcPct val="100000"/>
              </a:lnSpc>
              <a:spcBef>
                <a:spcPct val="0"/>
              </a:spcBef>
              <a:buFontTx/>
              <a:buChar char="•"/>
            </a:pPr>
            <a:r>
              <a:rPr lang="en-US" altLang="en-US" sz="2400" b="1" dirty="0">
                <a:latin typeface="Times New Roman" panose="02020603050405020304" pitchFamily="18" charset="0"/>
                <a:cs typeface="Times New Roman" panose="02020603050405020304" pitchFamily="18" charset="0"/>
              </a:rPr>
              <a:t>Prediction on New Data:</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The trained model can predict sentiments for new text reviews.</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It uses the same preprocessing and TF–IDF steps before making predictions</a:t>
            </a:r>
            <a:r>
              <a:rPr lang="en-US" altLang="en-US" sz="1800" dirty="0">
                <a:latin typeface="Times New Roman" panose="02020603050405020304" pitchFamily="18" charset="0"/>
                <a:cs typeface="Times New Roman" panose="02020603050405020304" pitchFamily="18" charset="0"/>
              </a:rPr>
              <a:t>.</a:t>
            </a:r>
          </a:p>
        </p:txBody>
      </p:sp>
      <p:sp>
        <p:nvSpPr>
          <p:cNvPr id="3" name="Title 1">
            <a:extLst>
              <a:ext uri="{FF2B5EF4-FFF2-40B4-BE49-F238E27FC236}">
                <a16:creationId xmlns:a16="http://schemas.microsoft.com/office/drawing/2014/main" id="{E3491E12-5E3B-8034-918C-D424817369DE}"/>
              </a:ext>
            </a:extLst>
          </p:cNvPr>
          <p:cNvSpPr>
            <a:spLocks noGrp="1"/>
          </p:cNvSpPr>
          <p:nvPr>
            <p:ph type="title"/>
          </p:nvPr>
        </p:nvSpPr>
        <p:spPr>
          <a:xfrm>
            <a:off x="459306" y="110631"/>
            <a:ext cx="11078758" cy="1325563"/>
          </a:xfrm>
          <a:ln>
            <a:miter lim="800000"/>
            <a:headEnd/>
            <a:tailEnd/>
          </a:ln>
        </p:spPr>
        <p:txBody>
          <a:bodyPr rtlCol="0">
            <a:normAutofit/>
          </a:bodyPr>
          <a:lstStyle/>
          <a:p>
            <a:pPr eaLnBrk="1" fontAlgn="auto" hangingPunct="1">
              <a:spcAft>
                <a:spcPts val="0"/>
              </a:spcAft>
              <a:defRPr/>
            </a:pPr>
            <a:r>
              <a:rPr lang="en-IN"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METHODOLOGY  						</a:t>
            </a:r>
            <a:r>
              <a:rPr lang="en-IN" sz="4000" b="1" dirty="0" err="1">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cont</a:t>
            </a:r>
            <a:r>
              <a:rPr lang="en-IN"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a:t>
            </a:r>
            <a:r>
              <a:rPr lang="en-AU"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endParaRPr lang="en-IN" sz="40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103475E-74DC-2109-DDFA-3DDA531457F6}"/>
              </a:ext>
            </a:extLst>
          </p:cNvPr>
          <p:cNvPicPr>
            <a:picLocks noChangeAspect="1"/>
          </p:cNvPicPr>
          <p:nvPr/>
        </p:nvPicPr>
        <p:blipFill>
          <a:blip r:embed="rId2"/>
          <a:stretch>
            <a:fillRect/>
          </a:stretch>
        </p:blipFill>
        <p:spPr>
          <a:xfrm>
            <a:off x="997232" y="1395913"/>
            <a:ext cx="9183382" cy="5229955"/>
          </a:xfrm>
          <a:prstGeom prst="rect">
            <a:avLst/>
          </a:prstGeom>
        </p:spPr>
      </p:pic>
      <p:sp>
        <p:nvSpPr>
          <p:cNvPr id="7" name="TextBox 6">
            <a:extLst>
              <a:ext uri="{FF2B5EF4-FFF2-40B4-BE49-F238E27FC236}">
                <a16:creationId xmlns:a16="http://schemas.microsoft.com/office/drawing/2014/main" id="{8ADBBC2F-C491-EE3A-AE8F-46C62AF5EB5F}"/>
              </a:ext>
            </a:extLst>
          </p:cNvPr>
          <p:cNvSpPr txBox="1"/>
          <p:nvPr/>
        </p:nvSpPr>
        <p:spPr>
          <a:xfrm>
            <a:off x="997232" y="116378"/>
            <a:ext cx="4333238" cy="584775"/>
          </a:xfrm>
          <a:prstGeom prst="rect">
            <a:avLst/>
          </a:prstGeom>
          <a:noFill/>
        </p:spPr>
        <p:txBody>
          <a:bodyPr wrap="none" rtlCol="0">
            <a:spAutoFit/>
          </a:bodyPr>
          <a:lstStyle/>
          <a:p>
            <a:r>
              <a:rPr lang="en-US" sz="3200" b="1" dirty="0"/>
              <a:t>ALGORITHMS USED:</a:t>
            </a:r>
            <a:endParaRPr lang="en-IN" sz="3200" b="1" dirty="0"/>
          </a:p>
        </p:txBody>
      </p:sp>
      <p:sp>
        <p:nvSpPr>
          <p:cNvPr id="8" name="TextBox 7">
            <a:extLst>
              <a:ext uri="{FF2B5EF4-FFF2-40B4-BE49-F238E27FC236}">
                <a16:creationId xmlns:a16="http://schemas.microsoft.com/office/drawing/2014/main" id="{129EA985-D2F4-C001-E3F8-84947D068839}"/>
              </a:ext>
            </a:extLst>
          </p:cNvPr>
          <p:cNvSpPr txBox="1"/>
          <p:nvPr/>
        </p:nvSpPr>
        <p:spPr>
          <a:xfrm>
            <a:off x="997232" y="863867"/>
            <a:ext cx="4664803" cy="369332"/>
          </a:xfrm>
          <a:prstGeom prst="rect">
            <a:avLst/>
          </a:prstGeom>
          <a:noFill/>
        </p:spPr>
        <p:txBody>
          <a:bodyPr wrap="none" rtlCol="0">
            <a:spAutoFit/>
          </a:bodyPr>
          <a:lstStyle/>
          <a:p>
            <a:r>
              <a:rPr lang="en-US" b="1" dirty="0"/>
              <a:t>1. NAVIE BAYES - MULTINOMIAL MODEL</a:t>
            </a:r>
            <a:endParaRPr lang="en-IN" b="1" dirty="0"/>
          </a:p>
        </p:txBody>
      </p:sp>
    </p:spTree>
    <p:extLst>
      <p:ext uri="{BB962C8B-B14F-4D97-AF65-F5344CB8AC3E}">
        <p14:creationId xmlns:p14="http://schemas.microsoft.com/office/powerpoint/2010/main" val="2043202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027F4-FB5E-1B7D-0546-25E5F330EE3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6945F2F-44F5-0D25-9FF5-AD814B256D17}"/>
              </a:ext>
            </a:extLst>
          </p:cNvPr>
          <p:cNvSpPr txBox="1"/>
          <p:nvPr/>
        </p:nvSpPr>
        <p:spPr>
          <a:xfrm>
            <a:off x="822785" y="1108006"/>
            <a:ext cx="7282124" cy="3139321"/>
          </a:xfrm>
          <a:prstGeom prst="rect">
            <a:avLst/>
          </a:prstGeom>
          <a:noFill/>
        </p:spPr>
        <p:txBody>
          <a:bodyPr wrap="square">
            <a:spAutoFit/>
          </a:bodyPr>
          <a:lstStyle/>
          <a:p>
            <a:pPr lvl="0">
              <a:buFontTx/>
              <a:buChar char="•"/>
            </a:pPr>
            <a:r>
              <a:rPr lang="en-US" altLang="en-US" b="1" dirty="0"/>
              <a:t>Text data follows a word-frequency pattern:</a:t>
            </a:r>
            <a:r>
              <a:rPr lang="en-US" altLang="en-US" dirty="0"/>
              <a:t> Naïve Bayes assumes feature independence, which works surprisingly well for text data because word occurrences (counts or TF-IDF scores) often behave independently enough.</a:t>
            </a:r>
          </a:p>
          <a:p>
            <a:pPr lvl="0">
              <a:buFontTx/>
              <a:buChar char="•"/>
            </a:pPr>
            <a:endParaRPr lang="en-US" altLang="en-US" dirty="0"/>
          </a:p>
          <a:p>
            <a:pPr lvl="0">
              <a:buFontTx/>
              <a:buChar char="•"/>
            </a:pPr>
            <a:r>
              <a:rPr lang="en-US" altLang="en-US" b="1" dirty="0"/>
              <a:t>Very fast to train:</a:t>
            </a:r>
            <a:r>
              <a:rPr lang="en-US" altLang="en-US" dirty="0"/>
              <a:t> It’s simple, efficient, and ideal for large text datasets.</a:t>
            </a:r>
          </a:p>
          <a:p>
            <a:pPr lvl="0">
              <a:buFontTx/>
              <a:buChar char="•"/>
            </a:pPr>
            <a:endParaRPr lang="en-US" altLang="en-US" dirty="0"/>
          </a:p>
          <a:p>
            <a:pPr lvl="0">
              <a:buFontTx/>
              <a:buChar char="•"/>
            </a:pPr>
            <a:r>
              <a:rPr lang="en-US" altLang="en-US" b="1" dirty="0"/>
              <a:t>Good baseline:</a:t>
            </a:r>
            <a:r>
              <a:rPr lang="en-US" altLang="en-US" dirty="0"/>
              <a:t> Even though it’s based on simple probability rules, Naïve Bayes can achieve competitive accuracy in sentiment analysis.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16345A6F-F468-0633-F756-30B14A9CC617}"/>
              </a:ext>
            </a:extLst>
          </p:cNvPr>
          <p:cNvSpPr txBox="1"/>
          <p:nvPr/>
        </p:nvSpPr>
        <p:spPr>
          <a:xfrm>
            <a:off x="822785" y="369343"/>
            <a:ext cx="8431183" cy="523220"/>
          </a:xfrm>
          <a:prstGeom prst="rect">
            <a:avLst/>
          </a:prstGeom>
          <a:noFill/>
        </p:spPr>
        <p:txBody>
          <a:bodyPr wrap="square">
            <a:spAutoFit/>
          </a:bodyPr>
          <a:lstStyle/>
          <a:p>
            <a:r>
              <a:rPr lang="en-US" sz="2800" b="1" dirty="0"/>
              <a:t>Reasons for Choosing Naïve Bayes Algorithm:</a:t>
            </a:r>
            <a:endParaRPr lang="en-IN" sz="2800" b="1" dirty="0"/>
          </a:p>
        </p:txBody>
      </p:sp>
      <p:sp>
        <p:nvSpPr>
          <p:cNvPr id="3" name="TextBox 2">
            <a:extLst>
              <a:ext uri="{FF2B5EF4-FFF2-40B4-BE49-F238E27FC236}">
                <a16:creationId xmlns:a16="http://schemas.microsoft.com/office/drawing/2014/main" id="{A5DBC6C1-59E7-AFA5-AF82-4863654BA6D0}"/>
              </a:ext>
            </a:extLst>
          </p:cNvPr>
          <p:cNvSpPr txBox="1"/>
          <p:nvPr/>
        </p:nvSpPr>
        <p:spPr>
          <a:xfrm>
            <a:off x="822785" y="4180333"/>
            <a:ext cx="10456717" cy="2308324"/>
          </a:xfrm>
          <a:prstGeom prst="rect">
            <a:avLst/>
          </a:prstGeom>
          <a:noFill/>
        </p:spPr>
        <p:txBody>
          <a:bodyPr wrap="square">
            <a:spAutoFit/>
          </a:bodyPr>
          <a:lstStyle/>
          <a:p>
            <a:pPr>
              <a:buNone/>
            </a:pPr>
            <a:r>
              <a:rPr lang="en-US" b="1" dirty="0"/>
              <a:t>Why preferred over others:</a:t>
            </a:r>
          </a:p>
          <a:p>
            <a:pPr>
              <a:buNone/>
            </a:pPr>
            <a:endParaRPr lang="en-US" dirty="0"/>
          </a:p>
          <a:p>
            <a:pPr>
              <a:buFont typeface="Arial" panose="020B0604020202020204" pitchFamily="34" charset="0"/>
              <a:buChar char="•"/>
            </a:pPr>
            <a:r>
              <a:rPr lang="en-US" dirty="0"/>
              <a:t>It performs remarkably well as a </a:t>
            </a:r>
            <a:r>
              <a:rPr lang="en-US" b="1" dirty="0"/>
              <a:t>baseline model</a:t>
            </a:r>
            <a:r>
              <a:rPr lang="en-US" dirty="0"/>
              <a:t> for sentiment analysis, often achieving accuracy close to Logistic Regression or SVM with minimal computational cost.</a:t>
            </a:r>
          </a:p>
          <a:p>
            <a:pPr>
              <a:buFont typeface="Arial" panose="020B0604020202020204" pitchFamily="34" charset="0"/>
              <a:buChar char="•"/>
            </a:pPr>
            <a:r>
              <a:rPr lang="en-US" dirty="0"/>
              <a:t>It’s </a:t>
            </a:r>
            <a:r>
              <a:rPr lang="en-US" b="1" dirty="0"/>
              <a:t>more efficient</a:t>
            </a:r>
            <a:r>
              <a:rPr lang="en-US" dirty="0"/>
              <a:t> and </a:t>
            </a:r>
            <a:r>
              <a:rPr lang="en-US" b="1" dirty="0"/>
              <a:t>easier to implement</a:t>
            </a:r>
            <a:r>
              <a:rPr lang="en-US" dirty="0"/>
              <a:t> than ensemble methods (like Random Forests or Gradient Boosting).</a:t>
            </a:r>
          </a:p>
          <a:p>
            <a:pPr>
              <a:buFont typeface="Arial" panose="020B0604020202020204" pitchFamily="34" charset="0"/>
              <a:buChar char="•"/>
            </a:pPr>
            <a:r>
              <a:rPr lang="en-US" dirty="0"/>
              <a:t>Works effectively when feature independence approximately holds — which is often true for text represented through bag-of-words or TF-IDF models.</a:t>
            </a:r>
          </a:p>
        </p:txBody>
      </p:sp>
      <p:pic>
        <p:nvPicPr>
          <p:cNvPr id="5122" name="Picture 2" descr="Naïve Bayes Classifier · UC Business Analytics R Programming Guide">
            <a:extLst>
              <a:ext uri="{FF2B5EF4-FFF2-40B4-BE49-F238E27FC236}">
                <a16:creationId xmlns:a16="http://schemas.microsoft.com/office/drawing/2014/main" id="{0D390463-DA62-45C0-466E-69E98E589A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2728" y="1485706"/>
            <a:ext cx="3539861" cy="194329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4481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AD75F-9856-81EA-536C-B545BF26844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5CC0232-4C40-DF01-1C68-91AD78B69DF8}"/>
              </a:ext>
            </a:extLst>
          </p:cNvPr>
          <p:cNvPicPr>
            <a:picLocks noChangeAspect="1"/>
          </p:cNvPicPr>
          <p:nvPr/>
        </p:nvPicPr>
        <p:blipFill>
          <a:blip r:embed="rId2"/>
          <a:stretch>
            <a:fillRect/>
          </a:stretch>
        </p:blipFill>
        <p:spPr>
          <a:xfrm>
            <a:off x="629689" y="1236457"/>
            <a:ext cx="9630063" cy="4948213"/>
          </a:xfrm>
          <a:prstGeom prst="rect">
            <a:avLst/>
          </a:prstGeom>
        </p:spPr>
      </p:pic>
      <p:sp>
        <p:nvSpPr>
          <p:cNvPr id="5" name="TextBox 4">
            <a:extLst>
              <a:ext uri="{FF2B5EF4-FFF2-40B4-BE49-F238E27FC236}">
                <a16:creationId xmlns:a16="http://schemas.microsoft.com/office/drawing/2014/main" id="{1D8321DE-0AC1-AD77-98BC-B8CA42B045DB}"/>
              </a:ext>
            </a:extLst>
          </p:cNvPr>
          <p:cNvSpPr txBox="1"/>
          <p:nvPr/>
        </p:nvSpPr>
        <p:spPr>
          <a:xfrm>
            <a:off x="629689" y="492822"/>
            <a:ext cx="6097384" cy="369332"/>
          </a:xfrm>
          <a:prstGeom prst="rect">
            <a:avLst/>
          </a:prstGeom>
          <a:noFill/>
        </p:spPr>
        <p:txBody>
          <a:bodyPr wrap="square">
            <a:spAutoFit/>
          </a:bodyPr>
          <a:lstStyle/>
          <a:p>
            <a:r>
              <a:rPr lang="en-US" b="1" dirty="0"/>
              <a:t>2. LOGISTIC REGRESSION - SIGMOID FUNCTION</a:t>
            </a:r>
            <a:endParaRPr lang="en-IN" b="1" dirty="0"/>
          </a:p>
        </p:txBody>
      </p:sp>
    </p:spTree>
    <p:extLst>
      <p:ext uri="{BB962C8B-B14F-4D97-AF65-F5344CB8AC3E}">
        <p14:creationId xmlns:p14="http://schemas.microsoft.com/office/powerpoint/2010/main" val="3561013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5B519-1B25-A084-7C91-E39754484BC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5F273F6-4AD0-DE9C-94C1-2283FB4323A4}"/>
              </a:ext>
            </a:extLst>
          </p:cNvPr>
          <p:cNvSpPr txBox="1"/>
          <p:nvPr/>
        </p:nvSpPr>
        <p:spPr>
          <a:xfrm>
            <a:off x="581890" y="1058639"/>
            <a:ext cx="8495608" cy="34163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Binary classification:</a:t>
            </a:r>
            <a:r>
              <a:rPr kumimoji="0" lang="en-US" altLang="en-US" sz="1800" b="0" i="0" u="none" strike="noStrike" cap="none" normalizeH="0" baseline="0" dirty="0">
                <a:ln>
                  <a:noFill/>
                </a:ln>
                <a:solidFill>
                  <a:schemeClr val="tx1"/>
                </a:solidFill>
                <a:effectLst/>
                <a:latin typeface="Arial" panose="020B0604020202020204" pitchFamily="34" charset="0"/>
              </a:rPr>
              <a:t> Logistic Regression is inherently designed for two-class problems (like </a:t>
            </a:r>
            <a:r>
              <a:rPr kumimoji="0" lang="en-US" altLang="en-US" sz="1800" b="0" i="1" u="none" strike="noStrike" cap="none" normalizeH="0" baseline="0" dirty="0">
                <a:ln>
                  <a:noFill/>
                </a:ln>
                <a:solidFill>
                  <a:schemeClr val="tx1"/>
                </a:solidFill>
                <a:effectLst/>
                <a:latin typeface="Arial" panose="020B0604020202020204" pitchFamily="34" charset="0"/>
              </a:rPr>
              <a:t>positive</a:t>
            </a:r>
            <a:r>
              <a:rPr kumimoji="0" lang="en-US" altLang="en-US" sz="1800" b="0" i="0" u="none" strike="noStrike" cap="none" normalizeH="0" baseline="0" dirty="0">
                <a:ln>
                  <a:noFill/>
                </a:ln>
                <a:solidFill>
                  <a:schemeClr val="tx1"/>
                </a:solidFill>
                <a:effectLst/>
                <a:latin typeface="Arial" panose="020B0604020202020204" pitchFamily="34" charset="0"/>
              </a:rPr>
              <a:t> vs </a:t>
            </a:r>
            <a:r>
              <a:rPr kumimoji="0" lang="en-US" altLang="en-US" sz="1800" b="0" i="1" u="none" strike="noStrike" cap="none" normalizeH="0" baseline="0" dirty="0">
                <a:ln>
                  <a:noFill/>
                </a:ln>
                <a:solidFill>
                  <a:schemeClr val="tx1"/>
                </a:solidFill>
                <a:effectLst/>
                <a:latin typeface="Arial" panose="020B0604020202020204" pitchFamily="34" charset="0"/>
              </a:rPr>
              <a:t>negative</a:t>
            </a:r>
            <a:r>
              <a:rPr kumimoji="0" lang="en-US" altLang="en-US" sz="1800" b="0" i="0" u="none" strike="noStrike" cap="none" normalizeH="0" baseline="0" dirty="0">
                <a:ln>
                  <a:noFill/>
                </a:ln>
                <a:solidFill>
                  <a:schemeClr val="tx1"/>
                </a:solidFill>
                <a:effectLst/>
                <a:latin typeface="Arial" panose="020B0604020202020204" pitchFamily="34" charset="0"/>
              </a:rPr>
              <a:t> sentiment).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Interpretability:</a:t>
            </a:r>
            <a:r>
              <a:rPr kumimoji="0" lang="en-US" altLang="en-US" sz="1800" b="0" i="0" u="none" strike="noStrike" cap="none" normalizeH="0" baseline="0" dirty="0">
                <a:ln>
                  <a:noFill/>
                </a:ln>
                <a:solidFill>
                  <a:schemeClr val="tx1"/>
                </a:solidFill>
                <a:effectLst/>
                <a:latin typeface="Arial" panose="020B0604020202020204" pitchFamily="34" charset="0"/>
              </a:rPr>
              <a:t> It produces probabilities (between 0 and 1), which makes it easy to interpret how confident the model is in its prediction.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Good with high-dimensional sparse data:</a:t>
            </a:r>
            <a:r>
              <a:rPr kumimoji="0" lang="en-US" altLang="en-US" sz="1800" b="0" i="0" u="none" strike="noStrike" cap="none" normalizeH="0" baseline="0" dirty="0">
                <a:ln>
                  <a:noFill/>
                </a:ln>
                <a:solidFill>
                  <a:schemeClr val="tx1"/>
                </a:solidFill>
                <a:effectLst/>
                <a:latin typeface="Arial" panose="020B0604020202020204" pitchFamily="34" charset="0"/>
              </a:rPr>
              <a:t> When combined with </a:t>
            </a:r>
            <a:r>
              <a:rPr kumimoji="0" lang="en-US" altLang="en-US" sz="1800" b="1" i="0" u="none" strike="noStrike" cap="none" normalizeH="0" baseline="0" dirty="0">
                <a:ln>
                  <a:noFill/>
                </a:ln>
                <a:solidFill>
                  <a:schemeClr val="tx1"/>
                </a:solidFill>
                <a:effectLst/>
                <a:latin typeface="Arial" panose="020B0604020202020204" pitchFamily="34" charset="0"/>
              </a:rPr>
              <a:t>TF-IDF</a:t>
            </a:r>
            <a:r>
              <a:rPr kumimoji="0" lang="en-US" altLang="en-US" sz="1800" b="0" i="0" u="none" strike="noStrike" cap="none" normalizeH="0" baseline="0" dirty="0">
                <a:ln>
                  <a:noFill/>
                </a:ln>
                <a:solidFill>
                  <a:schemeClr val="tx1"/>
                </a:solidFill>
                <a:effectLst/>
                <a:latin typeface="Arial" panose="020B0604020202020204" pitchFamily="34" charset="0"/>
              </a:rPr>
              <a:t> or </a:t>
            </a:r>
            <a:r>
              <a:rPr kumimoji="0" lang="en-US" altLang="en-US" sz="1800" b="1" i="0" u="none" strike="noStrike" cap="none" normalizeH="0" baseline="0" dirty="0">
                <a:ln>
                  <a:noFill/>
                </a:ln>
                <a:solidFill>
                  <a:schemeClr val="tx1"/>
                </a:solidFill>
                <a:effectLst/>
                <a:latin typeface="Arial" panose="020B0604020202020204" pitchFamily="34" charset="0"/>
              </a:rPr>
              <a:t>Bag of Words</a:t>
            </a:r>
            <a:r>
              <a:rPr kumimoji="0" lang="en-US" altLang="en-US" sz="1800" b="0" i="0" u="none" strike="noStrike" cap="none" normalizeH="0" baseline="0" dirty="0">
                <a:ln>
                  <a:noFill/>
                </a:ln>
                <a:solidFill>
                  <a:schemeClr val="tx1"/>
                </a:solidFill>
                <a:effectLst/>
                <a:latin typeface="Arial" panose="020B0604020202020204" pitchFamily="34" charset="0"/>
              </a:rPr>
              <a:t>, text data becomes high-dimensional but sparse. Logistic Regression handles this efficiently using linear decision boundaries.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Fast and scalable:</a:t>
            </a:r>
            <a:r>
              <a:rPr kumimoji="0" lang="en-US" altLang="en-US" sz="1800" b="0" i="0" u="none" strike="noStrike" cap="none" normalizeH="0" baseline="0" dirty="0">
                <a:ln>
                  <a:noFill/>
                </a:ln>
                <a:solidFill>
                  <a:schemeClr val="tx1"/>
                </a:solidFill>
                <a:effectLst/>
                <a:latin typeface="Arial" panose="020B0604020202020204" pitchFamily="34" charset="0"/>
              </a:rPr>
              <a:t> It’s computationally efficient even on large text datasets, making it a strong baseline model.</a:t>
            </a:r>
          </a:p>
        </p:txBody>
      </p:sp>
      <p:sp>
        <p:nvSpPr>
          <p:cNvPr id="3" name="TextBox 2">
            <a:extLst>
              <a:ext uri="{FF2B5EF4-FFF2-40B4-BE49-F238E27FC236}">
                <a16:creationId xmlns:a16="http://schemas.microsoft.com/office/drawing/2014/main" id="{9ED8B280-13A3-57AC-911E-7E8BFED800E5}"/>
              </a:ext>
            </a:extLst>
          </p:cNvPr>
          <p:cNvSpPr txBox="1"/>
          <p:nvPr/>
        </p:nvSpPr>
        <p:spPr>
          <a:xfrm>
            <a:off x="779318" y="296133"/>
            <a:ext cx="8855133" cy="584775"/>
          </a:xfrm>
          <a:prstGeom prst="rect">
            <a:avLst/>
          </a:prstGeom>
          <a:noFill/>
        </p:spPr>
        <p:txBody>
          <a:bodyPr wrap="square">
            <a:spAutoFit/>
          </a:bodyPr>
          <a:lstStyle/>
          <a:p>
            <a:r>
              <a:rPr lang="en-US" sz="3200" b="1" dirty="0"/>
              <a:t>Reasons for Choosing Logistic Regression:-</a:t>
            </a:r>
            <a:endParaRPr lang="en-IN" sz="3200" b="1" dirty="0"/>
          </a:p>
        </p:txBody>
      </p:sp>
      <p:sp>
        <p:nvSpPr>
          <p:cNvPr id="14" name="TextBox 13">
            <a:extLst>
              <a:ext uri="{FF2B5EF4-FFF2-40B4-BE49-F238E27FC236}">
                <a16:creationId xmlns:a16="http://schemas.microsoft.com/office/drawing/2014/main" id="{C03FDAD9-4C61-D341-42BC-329E900B271D}"/>
              </a:ext>
            </a:extLst>
          </p:cNvPr>
          <p:cNvSpPr txBox="1"/>
          <p:nvPr/>
        </p:nvSpPr>
        <p:spPr>
          <a:xfrm>
            <a:off x="581890" y="4574511"/>
            <a:ext cx="11612880" cy="1754326"/>
          </a:xfrm>
          <a:prstGeom prst="rect">
            <a:avLst/>
          </a:prstGeom>
          <a:noFill/>
        </p:spPr>
        <p:txBody>
          <a:bodyPr wrap="square">
            <a:spAutoFit/>
          </a:bodyPr>
          <a:lstStyle/>
          <a:p>
            <a:pPr>
              <a:buNone/>
            </a:pPr>
            <a:r>
              <a:rPr lang="en-US" b="1" dirty="0"/>
              <a:t>Why preferred over others:</a:t>
            </a:r>
          </a:p>
          <a:p>
            <a:pPr>
              <a:buNone/>
            </a:pPr>
            <a:endParaRPr lang="en-US" dirty="0"/>
          </a:p>
          <a:p>
            <a:pPr>
              <a:buFont typeface="Arial" panose="020B0604020202020204" pitchFamily="34" charset="0"/>
              <a:buChar char="•"/>
            </a:pPr>
            <a:r>
              <a:rPr lang="en-US" dirty="0"/>
              <a:t>Models like </a:t>
            </a:r>
            <a:r>
              <a:rPr lang="en-US" b="1" dirty="0"/>
              <a:t>Decision Trees or Random Forests</a:t>
            </a:r>
            <a:r>
              <a:rPr lang="en-US" dirty="0"/>
              <a:t> can easily overfit sparse TF-IDF data.</a:t>
            </a:r>
          </a:p>
          <a:p>
            <a:pPr>
              <a:buFont typeface="Arial" panose="020B0604020202020204" pitchFamily="34" charset="0"/>
              <a:buChar char="•"/>
            </a:pPr>
            <a:r>
              <a:rPr lang="en-US" b="1" dirty="0"/>
              <a:t>KNN</a:t>
            </a:r>
            <a:r>
              <a:rPr lang="en-US" dirty="0"/>
              <a:t> is not suitable for large high-dimensional text data as it requires heavy computation for each prediction.</a:t>
            </a:r>
          </a:p>
          <a:p>
            <a:pPr>
              <a:buFont typeface="Arial" panose="020B0604020202020204" pitchFamily="34" charset="0"/>
              <a:buChar char="•"/>
            </a:pPr>
            <a:r>
              <a:rPr lang="en-US" b="1" dirty="0"/>
              <a:t>Neural networks</a:t>
            </a:r>
            <a:r>
              <a:rPr lang="en-US" dirty="0"/>
              <a:t> need large datasets, GPUs, and extensive tuning; for smaller or medium-sized datasets like IMDb, Logistic Regression provides similar accuracy with much less complexity.</a:t>
            </a:r>
          </a:p>
        </p:txBody>
      </p:sp>
      <p:pic>
        <p:nvPicPr>
          <p:cNvPr id="4098" name="Picture 2" descr="What is Logistic Regression? | Encord">
            <a:extLst>
              <a:ext uri="{FF2B5EF4-FFF2-40B4-BE49-F238E27FC236}">
                <a16:creationId xmlns:a16="http://schemas.microsoft.com/office/drawing/2014/main" id="{F85A0700-C433-962D-96D0-3111C0E44A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62184" y="1021232"/>
            <a:ext cx="2762250" cy="165735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80545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A5D72-5FAD-0A89-E75C-91024DDA2E4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F696696-D561-1819-6CED-35F89FA20F59}"/>
              </a:ext>
            </a:extLst>
          </p:cNvPr>
          <p:cNvPicPr>
            <a:picLocks noChangeAspect="1"/>
          </p:cNvPicPr>
          <p:nvPr/>
        </p:nvPicPr>
        <p:blipFill>
          <a:blip r:embed="rId2"/>
          <a:stretch>
            <a:fillRect/>
          </a:stretch>
        </p:blipFill>
        <p:spPr>
          <a:xfrm>
            <a:off x="818421" y="1138373"/>
            <a:ext cx="10187630" cy="5448061"/>
          </a:xfrm>
          <a:prstGeom prst="rect">
            <a:avLst/>
          </a:prstGeom>
        </p:spPr>
      </p:pic>
      <p:sp>
        <p:nvSpPr>
          <p:cNvPr id="7" name="TextBox 6">
            <a:extLst>
              <a:ext uri="{FF2B5EF4-FFF2-40B4-BE49-F238E27FC236}">
                <a16:creationId xmlns:a16="http://schemas.microsoft.com/office/drawing/2014/main" id="{CD2AF89B-5D16-AEE5-932A-46A7149DCBCC}"/>
              </a:ext>
            </a:extLst>
          </p:cNvPr>
          <p:cNvSpPr txBox="1"/>
          <p:nvPr/>
        </p:nvSpPr>
        <p:spPr>
          <a:xfrm>
            <a:off x="704504" y="484508"/>
            <a:ext cx="6097384" cy="369332"/>
          </a:xfrm>
          <a:prstGeom prst="rect">
            <a:avLst/>
          </a:prstGeom>
          <a:noFill/>
        </p:spPr>
        <p:txBody>
          <a:bodyPr wrap="square">
            <a:spAutoFit/>
          </a:bodyPr>
          <a:lstStyle/>
          <a:p>
            <a:r>
              <a:rPr lang="en-US" b="1" dirty="0"/>
              <a:t>3. SUPPORT VECTOR MACHINE - LINEAR SVC</a:t>
            </a:r>
            <a:endParaRPr lang="en-IN" b="1" dirty="0"/>
          </a:p>
        </p:txBody>
      </p:sp>
    </p:spTree>
    <p:extLst>
      <p:ext uri="{BB962C8B-B14F-4D97-AF65-F5344CB8AC3E}">
        <p14:creationId xmlns:p14="http://schemas.microsoft.com/office/powerpoint/2010/main" val="1330091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4391014-C17F-E56E-FF31-D086BAAC65BC}"/>
              </a:ext>
            </a:extLst>
          </p:cNvPr>
          <p:cNvSpPr txBox="1"/>
          <p:nvPr/>
        </p:nvSpPr>
        <p:spPr>
          <a:xfrm>
            <a:off x="362989" y="1077942"/>
            <a:ext cx="7971906" cy="3139321"/>
          </a:xfrm>
          <a:prstGeom prst="rect">
            <a:avLst/>
          </a:prstGeom>
          <a:noFill/>
        </p:spPr>
        <p:txBody>
          <a:bodyPr wrap="square">
            <a:spAutoFit/>
          </a:bodyPr>
          <a:lstStyle/>
          <a:p>
            <a:pPr lvl="0">
              <a:buFontTx/>
              <a:buChar char="•"/>
            </a:pPr>
            <a:r>
              <a:rPr lang="en-US" altLang="en-US" b="1" dirty="0"/>
              <a:t>Excellent for high-dimensional data:</a:t>
            </a:r>
            <a:r>
              <a:rPr lang="en-US" altLang="en-US" dirty="0"/>
              <a:t> Text data with TF-IDF features typically has thousands of dimensions, and SVMs are specifically strong in such settings.</a:t>
            </a:r>
          </a:p>
          <a:p>
            <a:pPr lvl="0">
              <a:buFontTx/>
              <a:buChar char="•"/>
            </a:pPr>
            <a:endParaRPr lang="en-US" altLang="en-US" dirty="0"/>
          </a:p>
          <a:p>
            <a:pPr lvl="0">
              <a:buFontTx/>
              <a:buChar char="•"/>
            </a:pPr>
            <a:r>
              <a:rPr lang="en-US" altLang="en-US" b="1" dirty="0"/>
              <a:t>Robust to overfitting:</a:t>
            </a:r>
            <a:r>
              <a:rPr lang="en-US" altLang="en-US" dirty="0"/>
              <a:t> Especially with the </a:t>
            </a:r>
            <a:r>
              <a:rPr lang="en-US" altLang="en-US" b="1" dirty="0"/>
              <a:t>linear kernel</a:t>
            </a:r>
            <a:r>
              <a:rPr lang="en-US" altLang="en-US" dirty="0"/>
              <a:t>, SVMs generalize well even with noisy data.</a:t>
            </a:r>
          </a:p>
          <a:p>
            <a:pPr lvl="0">
              <a:buFontTx/>
              <a:buChar char="•"/>
            </a:pPr>
            <a:endParaRPr lang="en-US" altLang="en-US" dirty="0"/>
          </a:p>
          <a:p>
            <a:pPr lvl="0">
              <a:buFontTx/>
              <a:buChar char="•"/>
            </a:pPr>
            <a:r>
              <a:rPr lang="en-US" altLang="en-US" b="1" dirty="0"/>
              <a:t>Maximizes the margin:</a:t>
            </a:r>
            <a:r>
              <a:rPr lang="en-US" altLang="en-US" dirty="0"/>
              <a:t> SVM tries to find the best boundary that separates positive and negative sentiments with maximum margin — which improves generalization.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8626EEF2-1AE2-A17B-BFD9-D999D3E17BD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C1011D09-F200-8FEF-CB4A-BB46C082599A}"/>
              </a:ext>
            </a:extLst>
          </p:cNvPr>
          <p:cNvSpPr txBox="1"/>
          <p:nvPr/>
        </p:nvSpPr>
        <p:spPr>
          <a:xfrm>
            <a:off x="521622" y="254570"/>
            <a:ext cx="9570028" cy="584775"/>
          </a:xfrm>
          <a:prstGeom prst="rect">
            <a:avLst/>
          </a:prstGeom>
          <a:noFill/>
        </p:spPr>
        <p:txBody>
          <a:bodyPr wrap="square">
            <a:spAutoFit/>
          </a:bodyPr>
          <a:lstStyle/>
          <a:p>
            <a:r>
              <a:rPr lang="en-US" sz="3200" b="1" dirty="0"/>
              <a:t>Reasons for Choosing Support Vector Machine:</a:t>
            </a:r>
            <a:endParaRPr lang="en-IN" sz="3200" b="1" dirty="0"/>
          </a:p>
        </p:txBody>
      </p:sp>
      <p:sp>
        <p:nvSpPr>
          <p:cNvPr id="12" name="TextBox 11">
            <a:extLst>
              <a:ext uri="{FF2B5EF4-FFF2-40B4-BE49-F238E27FC236}">
                <a16:creationId xmlns:a16="http://schemas.microsoft.com/office/drawing/2014/main" id="{F034E71F-A87E-4001-E640-B4E38B9F7078}"/>
              </a:ext>
            </a:extLst>
          </p:cNvPr>
          <p:cNvSpPr txBox="1"/>
          <p:nvPr/>
        </p:nvSpPr>
        <p:spPr>
          <a:xfrm>
            <a:off x="362989" y="3977985"/>
            <a:ext cx="11438313" cy="2308324"/>
          </a:xfrm>
          <a:prstGeom prst="rect">
            <a:avLst/>
          </a:prstGeom>
          <a:noFill/>
        </p:spPr>
        <p:txBody>
          <a:bodyPr wrap="square">
            <a:spAutoFit/>
          </a:bodyPr>
          <a:lstStyle/>
          <a:p>
            <a:pPr>
              <a:buNone/>
            </a:pPr>
            <a:r>
              <a:rPr lang="en-US" b="1" dirty="0"/>
              <a:t>Why preferred over others:</a:t>
            </a:r>
          </a:p>
          <a:p>
            <a:pPr>
              <a:buNone/>
            </a:pPr>
            <a:endParaRPr lang="en-US" dirty="0"/>
          </a:p>
          <a:p>
            <a:pPr>
              <a:buFont typeface="Arial" panose="020B0604020202020204" pitchFamily="34" charset="0"/>
              <a:buChar char="•"/>
            </a:pPr>
            <a:r>
              <a:rPr lang="en-US" dirty="0"/>
              <a:t>Unlike </a:t>
            </a:r>
            <a:r>
              <a:rPr lang="en-US" b="1" dirty="0"/>
              <a:t>Logistic Regression</a:t>
            </a:r>
            <a:r>
              <a:rPr lang="en-US" dirty="0"/>
              <a:t>, which maximizes likelihood, SVM maximizes the margin — this often gives </a:t>
            </a:r>
            <a:r>
              <a:rPr lang="en-US" b="1" dirty="0"/>
              <a:t>better performance when classes overlap</a:t>
            </a:r>
            <a:r>
              <a:rPr lang="en-US" dirty="0"/>
              <a:t>.</a:t>
            </a:r>
          </a:p>
          <a:p>
            <a:pPr>
              <a:buFont typeface="Arial" panose="020B0604020202020204" pitchFamily="34" charset="0"/>
              <a:buChar char="•"/>
            </a:pPr>
            <a:r>
              <a:rPr lang="en-US" dirty="0"/>
              <a:t>Compared to </a:t>
            </a:r>
            <a:r>
              <a:rPr lang="en-US" b="1" dirty="0"/>
              <a:t>Naïve Bayes</a:t>
            </a:r>
            <a:r>
              <a:rPr lang="en-US" dirty="0"/>
              <a:t>, SVM doesn’t assume independence between features, making it more flexible and capable of capturing more complex word relationships.</a:t>
            </a:r>
          </a:p>
          <a:p>
            <a:pPr>
              <a:buFont typeface="Arial" panose="020B0604020202020204" pitchFamily="34" charset="0"/>
              <a:buChar char="•"/>
            </a:pPr>
            <a:r>
              <a:rPr lang="en-US" dirty="0"/>
              <a:t>While </a:t>
            </a:r>
            <a:r>
              <a:rPr lang="en-US" b="1" dirty="0"/>
              <a:t>deep learning models</a:t>
            </a:r>
            <a:r>
              <a:rPr lang="en-US" dirty="0"/>
              <a:t> (like LSTM or CNN) could achieve similar results, they require massive labeled data and tuning, whereas SVM works great with limited labeled reviews.</a:t>
            </a:r>
          </a:p>
        </p:txBody>
      </p:sp>
      <p:pic>
        <p:nvPicPr>
          <p:cNvPr id="1028" name="Picture 4">
            <a:extLst>
              <a:ext uri="{FF2B5EF4-FFF2-40B4-BE49-F238E27FC236}">
                <a16:creationId xmlns:a16="http://schemas.microsoft.com/office/drawing/2014/main" id="{7840E632-E03A-034A-26C8-196DAEE8EE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26175" y="1016579"/>
            <a:ext cx="3419127" cy="227941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8937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0FCFC-F184-25C5-D78E-BBEF267943AD}"/>
              </a:ext>
            </a:extLst>
          </p:cNvPr>
          <p:cNvSpPr>
            <a:spLocks noGrp="1"/>
          </p:cNvSpPr>
          <p:nvPr>
            <p:ph type="title"/>
          </p:nvPr>
        </p:nvSpPr>
        <p:spPr>
          <a:xfrm>
            <a:off x="886266" y="624110"/>
            <a:ext cx="10618348" cy="1280890"/>
          </a:xfrm>
          <a:ln>
            <a:miter lim="800000"/>
            <a:headEnd/>
            <a:tailEnd/>
          </a:ln>
        </p:spPr>
        <p:txBody>
          <a:bodyPr rtlCol="0">
            <a:normAutofit fontScale="90000"/>
          </a:bodyPr>
          <a:lstStyle/>
          <a:p>
            <a:pPr eaLnBrk="1" fontAlgn="auto" hangingPunct="1">
              <a:spcAft>
                <a:spcPts val="0"/>
              </a:spcAft>
              <a:defRPr/>
            </a:pPr>
            <a:br>
              <a:rPr lang="en-US"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br>
            <a:r>
              <a:rPr lang="en-US"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REQUIREMENTS:-</a:t>
            </a:r>
            <a:br>
              <a:rPr lang="en-AU" sz="4000" b="1" dirty="0">
                <a:ln w="0"/>
                <a:effectLst>
                  <a:reflection blurRad="6350" stA="53000" endA="300" endPos="35500" dir="5400000" sy="-90000" algn="bl" rotWithShape="0"/>
                </a:effectLst>
              </a:rPr>
            </a:br>
            <a:br>
              <a:rPr lang="en-AU" sz="4000" b="1" spc="50" dirty="0">
                <a:ln w="0"/>
                <a:effectLst>
                  <a:innerShdw blurRad="63500" dist="50800" dir="13500000">
                    <a:srgbClr val="000000">
                      <a:alpha val="50000"/>
                    </a:srgbClr>
                  </a:innerShdw>
                </a:effectLst>
              </a:rPr>
            </a:br>
            <a:endParaRPr lang="en-US" sz="4000" b="1" dirty="0"/>
          </a:p>
        </p:txBody>
      </p:sp>
      <p:sp>
        <p:nvSpPr>
          <p:cNvPr id="7171" name="Content Placeholder 2">
            <a:extLst>
              <a:ext uri="{FF2B5EF4-FFF2-40B4-BE49-F238E27FC236}">
                <a16:creationId xmlns:a16="http://schemas.microsoft.com/office/drawing/2014/main" id="{59316BB0-FAD4-B441-1FE7-1F9BA7169767}"/>
              </a:ext>
            </a:extLst>
          </p:cNvPr>
          <p:cNvSpPr>
            <a:spLocks noGrp="1"/>
          </p:cNvSpPr>
          <p:nvPr>
            <p:ph idx="1"/>
          </p:nvPr>
        </p:nvSpPr>
        <p:spPr>
          <a:xfrm>
            <a:off x="885825" y="1657350"/>
            <a:ext cx="10618788" cy="4183063"/>
          </a:xfrm>
        </p:spPr>
        <p:txBody>
          <a:bodyPr/>
          <a:lstStyle/>
          <a:p>
            <a:pPr marL="0" indent="0">
              <a:buFont typeface="Arial" panose="020B0604020202020204" pitchFamily="34" charset="0"/>
              <a:buNone/>
              <a:defRPr/>
            </a:pPr>
            <a:r>
              <a:rPr lang="en-IN" sz="2000" b="1" dirty="0"/>
              <a:t>1. </a:t>
            </a:r>
            <a:r>
              <a:rPr lang="en-IN" sz="2000" b="1" dirty="0">
                <a:latin typeface="Times New Roman" panose="02020603050405020304" pitchFamily="18" charset="0"/>
                <a:cs typeface="Times New Roman" panose="02020603050405020304" pitchFamily="18" charset="0"/>
              </a:rPr>
              <a:t>Hardware Requirements:</a:t>
            </a:r>
          </a:p>
          <a:p>
            <a:pPr>
              <a:defRPr/>
            </a:pPr>
            <a:r>
              <a:rPr lang="en-IN" sz="2000" b="1" dirty="0">
                <a:latin typeface="Times New Roman" panose="02020603050405020304" pitchFamily="18" charset="0"/>
                <a:cs typeface="Times New Roman" panose="02020603050405020304" pitchFamily="18" charset="0"/>
              </a:rPr>
              <a:t>Processor:</a:t>
            </a:r>
            <a:r>
              <a:rPr lang="en-IN" sz="2000" dirty="0">
                <a:latin typeface="Times New Roman" panose="02020603050405020304" pitchFamily="18" charset="0"/>
                <a:cs typeface="Times New Roman" panose="02020603050405020304" pitchFamily="18" charset="0"/>
              </a:rPr>
              <a:t> Intel i3 or higher for smooth execution.</a:t>
            </a:r>
          </a:p>
          <a:p>
            <a:pPr>
              <a:defRPr/>
            </a:pPr>
            <a:r>
              <a:rPr lang="en-IN" sz="2000" b="1" dirty="0">
                <a:latin typeface="Times New Roman" panose="02020603050405020304" pitchFamily="18" charset="0"/>
                <a:cs typeface="Times New Roman" panose="02020603050405020304" pitchFamily="18" charset="0"/>
              </a:rPr>
              <a:t>RAM:</a:t>
            </a:r>
            <a:r>
              <a:rPr lang="en-IN" sz="2000" dirty="0">
                <a:latin typeface="Times New Roman" panose="02020603050405020304" pitchFamily="18" charset="0"/>
                <a:cs typeface="Times New Roman" panose="02020603050405020304" pitchFamily="18" charset="0"/>
              </a:rPr>
              <a:t> Minimum 4 GB (8 GB recommended for faster processing).</a:t>
            </a:r>
          </a:p>
          <a:p>
            <a:pPr>
              <a:defRPr/>
            </a:pPr>
            <a:r>
              <a:rPr lang="en-IN" sz="2000" b="1" dirty="0">
                <a:latin typeface="Times New Roman" panose="02020603050405020304" pitchFamily="18" charset="0"/>
                <a:cs typeface="Times New Roman" panose="02020603050405020304" pitchFamily="18" charset="0"/>
              </a:rPr>
              <a:t>Storage:</a:t>
            </a:r>
            <a:r>
              <a:rPr lang="en-IN" sz="2000" dirty="0">
                <a:latin typeface="Times New Roman" panose="02020603050405020304" pitchFamily="18" charset="0"/>
                <a:cs typeface="Times New Roman" panose="02020603050405020304" pitchFamily="18" charset="0"/>
              </a:rPr>
              <a:t> At least 2 GB free space for dataset and libraries.</a:t>
            </a:r>
          </a:p>
          <a:p>
            <a:pPr>
              <a:defRPr/>
            </a:pPr>
            <a:r>
              <a:rPr lang="en-IN" sz="2000" b="1" dirty="0">
                <a:latin typeface="Times New Roman" panose="02020603050405020304" pitchFamily="18" charset="0"/>
                <a:cs typeface="Times New Roman" panose="02020603050405020304" pitchFamily="18" charset="0"/>
              </a:rPr>
              <a:t>Operating System:</a:t>
            </a:r>
            <a:r>
              <a:rPr lang="en-IN" sz="2000" dirty="0">
                <a:latin typeface="Times New Roman" panose="02020603050405020304" pitchFamily="18" charset="0"/>
                <a:cs typeface="Times New Roman" panose="02020603050405020304" pitchFamily="18" charset="0"/>
              </a:rPr>
              <a:t> Windows / Linux / macOS operating system.</a:t>
            </a:r>
          </a:p>
          <a:p>
            <a:pPr>
              <a:defRPr/>
            </a:pPr>
            <a:endParaRPr lang="en-IN" sz="20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r>
              <a:rPr lang="en-IN" sz="2000" b="1" dirty="0">
                <a:latin typeface="Times New Roman" panose="02020603050405020304" pitchFamily="18" charset="0"/>
                <a:cs typeface="Times New Roman" panose="02020603050405020304" pitchFamily="18" charset="0"/>
              </a:rPr>
              <a:t>2. Software Requirements:</a:t>
            </a:r>
          </a:p>
          <a:p>
            <a:pPr>
              <a:defRPr/>
            </a:pPr>
            <a:r>
              <a:rPr lang="en-IN" sz="2000" b="1" dirty="0">
                <a:latin typeface="Times New Roman" panose="02020603050405020304" pitchFamily="18" charset="0"/>
                <a:cs typeface="Times New Roman" panose="02020603050405020304" pitchFamily="18" charset="0"/>
              </a:rPr>
              <a:t>Programming Language:</a:t>
            </a:r>
            <a:r>
              <a:rPr lang="en-IN" sz="2000" dirty="0">
                <a:latin typeface="Times New Roman" panose="02020603050405020304" pitchFamily="18" charset="0"/>
                <a:cs typeface="Times New Roman" panose="02020603050405020304" pitchFamily="18" charset="0"/>
              </a:rPr>
              <a:t> Python 3.x</a:t>
            </a:r>
          </a:p>
          <a:p>
            <a:pPr>
              <a:defRPr/>
            </a:pPr>
            <a:r>
              <a:rPr lang="en-IN" sz="2000" b="1" dirty="0">
                <a:latin typeface="Times New Roman" panose="02020603050405020304" pitchFamily="18" charset="0"/>
                <a:cs typeface="Times New Roman" panose="02020603050405020304" pitchFamily="18" charset="0"/>
              </a:rPr>
              <a:t>IDE / Editor:</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Jupyter</a:t>
            </a:r>
            <a:r>
              <a:rPr lang="en-IN" sz="2000" dirty="0">
                <a:latin typeface="Times New Roman" panose="02020603050405020304" pitchFamily="18" charset="0"/>
                <a:cs typeface="Times New Roman" panose="02020603050405020304" pitchFamily="18" charset="0"/>
              </a:rPr>
              <a:t> Notebook, Google </a:t>
            </a:r>
            <a:r>
              <a:rPr lang="en-IN" sz="2000" dirty="0" err="1">
                <a:latin typeface="Times New Roman" panose="02020603050405020304" pitchFamily="18" charset="0"/>
                <a:cs typeface="Times New Roman" panose="02020603050405020304" pitchFamily="18" charset="0"/>
              </a:rPr>
              <a:t>Colab</a:t>
            </a:r>
            <a:r>
              <a:rPr lang="en-IN" sz="2000" dirty="0">
                <a:latin typeface="Times New Roman" panose="02020603050405020304" pitchFamily="18" charset="0"/>
                <a:cs typeface="Times New Roman" panose="02020603050405020304" pitchFamily="18" charset="0"/>
              </a:rPr>
              <a:t>, or VS Code.</a:t>
            </a:r>
          </a:p>
          <a:p>
            <a:pPr>
              <a:defRPr/>
            </a:pPr>
            <a:r>
              <a:rPr lang="en-IN" sz="2000" b="1" dirty="0">
                <a:latin typeface="Times New Roman" panose="02020603050405020304" pitchFamily="18" charset="0"/>
                <a:cs typeface="Times New Roman" panose="02020603050405020304" pitchFamily="18" charset="0"/>
              </a:rPr>
              <a:t>Libraries:</a:t>
            </a:r>
            <a:r>
              <a:rPr lang="en-IN" sz="2000" dirty="0">
                <a:latin typeface="Times New Roman" panose="02020603050405020304" pitchFamily="18" charset="0"/>
                <a:cs typeface="Times New Roman" panose="02020603050405020304" pitchFamily="18" charset="0"/>
              </a:rPr>
              <a:t> pandas, scikit-learn, </a:t>
            </a:r>
            <a:r>
              <a:rPr lang="en-IN" sz="2000" dirty="0" err="1">
                <a:latin typeface="Times New Roman" panose="02020603050405020304" pitchFamily="18" charset="0"/>
                <a:cs typeface="Times New Roman" panose="02020603050405020304" pitchFamily="18" charset="0"/>
              </a:rPr>
              <a:t>nltk</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joblib</a:t>
            </a:r>
            <a:r>
              <a:rPr lang="en-IN" sz="2000" dirty="0">
                <a:latin typeface="Times New Roman" panose="02020603050405020304" pitchFamily="18" charset="0"/>
                <a:cs typeface="Times New Roman" panose="02020603050405020304" pitchFamily="18" charset="0"/>
              </a:rPr>
              <a:t>, matplotlib (optional).</a:t>
            </a:r>
          </a:p>
          <a:p>
            <a:pPr>
              <a:defRPr/>
            </a:pPr>
            <a:r>
              <a:rPr lang="en-IN" sz="2000" b="1" dirty="0">
                <a:latin typeface="Times New Roman" panose="02020603050405020304" pitchFamily="18" charset="0"/>
                <a:cs typeface="Times New Roman" panose="02020603050405020304" pitchFamily="18" charset="0"/>
              </a:rPr>
              <a:t>Dataset:</a:t>
            </a:r>
            <a:r>
              <a:rPr lang="en-IN" sz="2000" dirty="0">
                <a:latin typeface="Times New Roman" panose="02020603050405020304" pitchFamily="18" charset="0"/>
                <a:cs typeface="Times New Roman" panose="02020603050405020304" pitchFamily="18" charset="0"/>
              </a:rPr>
              <a:t> IMDb Movie Reviews dataset (CSV format).   [downloaded from Kaggle datasets]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DEF616E-BC77-0A9D-59B7-6F4A76D77E6E}"/>
              </a:ext>
            </a:extLst>
          </p:cNvPr>
          <p:cNvSpPr>
            <a:spLocks noGrp="1"/>
          </p:cNvSpPr>
          <p:nvPr>
            <p:ph type="title"/>
          </p:nvPr>
        </p:nvSpPr>
        <p:spPr>
          <a:xfrm>
            <a:off x="270163" y="681009"/>
            <a:ext cx="10515600" cy="1325563"/>
          </a:xfrm>
          <a:ln>
            <a:miter lim="800000"/>
            <a:headEnd/>
            <a:tailEnd/>
          </a:ln>
        </p:spPr>
        <p:txBody>
          <a:bodyPr rtlCol="0">
            <a:normAutofit fontScale="90000"/>
          </a:bodyPr>
          <a:lstStyle/>
          <a:p>
            <a:pPr eaLnBrk="1" fontAlgn="auto" hangingPunct="1">
              <a:lnSpc>
                <a:spcPct val="150000"/>
              </a:lnSpc>
              <a:spcAft>
                <a:spcPts val="0"/>
              </a:spcAft>
              <a:defRPr/>
            </a:pPr>
            <a:br>
              <a:rPr lang="en-IN" altLang="en-US" sz="36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sym typeface="+mn-ea"/>
              </a:rPr>
            </a:br>
            <a:r>
              <a:rPr lang="en-IN" altLang="en-US"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sym typeface="+mn-ea"/>
              </a:rPr>
              <a:t>IMPLEMENTATION:-</a:t>
            </a:r>
            <a:br>
              <a:rPr lang="en-IN" altLang="en-US" sz="36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sym typeface="+mn-ea"/>
              </a:rPr>
            </a:br>
            <a:br>
              <a:rPr lang="en-US" sz="2700" dirty="0">
                <a:latin typeface="Times New Roman" panose="02020603050405020304" pitchFamily="18" charset="0"/>
                <a:cs typeface="Times New Roman" panose="02020603050405020304" pitchFamily="18" charset="0"/>
              </a:rPr>
            </a:br>
            <a:br>
              <a:rPr lang="en-IN" altLang="en-US" sz="24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sym typeface="+mn-ea"/>
              </a:rPr>
            </a:br>
            <a:endParaRPr lang="en-IN" altLang="en-US" sz="24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sym typeface="+mn-ea"/>
            </a:endParaRPr>
          </a:p>
        </p:txBody>
      </p:sp>
      <p:pic>
        <p:nvPicPr>
          <p:cNvPr id="7" name="Picture 6">
            <a:extLst>
              <a:ext uri="{FF2B5EF4-FFF2-40B4-BE49-F238E27FC236}">
                <a16:creationId xmlns:a16="http://schemas.microsoft.com/office/drawing/2014/main" id="{CFAFEA7B-2560-5ED4-989D-F1B5E188A9ED}"/>
              </a:ext>
            </a:extLst>
          </p:cNvPr>
          <p:cNvPicPr>
            <a:picLocks noChangeAspect="1"/>
          </p:cNvPicPr>
          <p:nvPr/>
        </p:nvPicPr>
        <p:blipFill>
          <a:blip r:embed="rId2"/>
          <a:stretch>
            <a:fillRect/>
          </a:stretch>
        </p:blipFill>
        <p:spPr>
          <a:xfrm>
            <a:off x="270163" y="2097284"/>
            <a:ext cx="5332174" cy="2962688"/>
          </a:xfrm>
          <a:prstGeom prst="rect">
            <a:avLst/>
          </a:prstGeom>
        </p:spPr>
      </p:pic>
      <p:pic>
        <p:nvPicPr>
          <p:cNvPr id="9" name="Picture 8">
            <a:extLst>
              <a:ext uri="{FF2B5EF4-FFF2-40B4-BE49-F238E27FC236}">
                <a16:creationId xmlns:a16="http://schemas.microsoft.com/office/drawing/2014/main" id="{F94511DB-90C6-41B7-9C0B-A5ED48A8B357}"/>
              </a:ext>
            </a:extLst>
          </p:cNvPr>
          <p:cNvPicPr>
            <a:picLocks noChangeAspect="1"/>
          </p:cNvPicPr>
          <p:nvPr/>
        </p:nvPicPr>
        <p:blipFill>
          <a:blip r:embed="rId3"/>
          <a:stretch>
            <a:fillRect/>
          </a:stretch>
        </p:blipFill>
        <p:spPr>
          <a:xfrm>
            <a:off x="5818910" y="232756"/>
            <a:ext cx="6177302" cy="6276109"/>
          </a:xfrm>
          <a:prstGeom prst="rect">
            <a:avLst/>
          </a:prstGeom>
        </p:spPr>
      </p:pic>
    </p:spTree>
    <p:extLst>
      <p:ext uri="{BB962C8B-B14F-4D97-AF65-F5344CB8AC3E}">
        <p14:creationId xmlns:p14="http://schemas.microsoft.com/office/powerpoint/2010/main" val="15796436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D6C24-DF96-6DE0-1797-B8D73F0B16DC}"/>
              </a:ext>
            </a:extLst>
          </p:cNvPr>
          <p:cNvSpPr>
            <a:spLocks noGrp="1"/>
          </p:cNvSpPr>
          <p:nvPr>
            <p:ph type="title"/>
          </p:nvPr>
        </p:nvSpPr>
        <p:spPr>
          <a:ln>
            <a:miter lim="800000"/>
            <a:headEnd/>
            <a:tailEnd/>
          </a:ln>
        </p:spPr>
        <p:txBody>
          <a:bodyPr rtlCol="0">
            <a:normAutofit fontScale="90000"/>
          </a:bodyPr>
          <a:lstStyle/>
          <a:p>
            <a:pPr eaLnBrk="1" fontAlgn="auto" hangingPunct="1">
              <a:lnSpc>
                <a:spcPct val="150000"/>
              </a:lnSpc>
              <a:spcAft>
                <a:spcPts val="0"/>
              </a:spcAft>
              <a:defRPr/>
            </a:pPr>
            <a:br>
              <a:rPr lang="en-IN" altLang="en-US" sz="36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sym typeface="+mn-ea"/>
              </a:rPr>
            </a:br>
            <a:r>
              <a:rPr lang="en-IN" altLang="en-US" sz="40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sym typeface="+mn-ea"/>
              </a:rPr>
              <a:t>IMPLEMENTATION:-</a:t>
            </a:r>
            <a:br>
              <a:rPr lang="en-IN" altLang="en-US" sz="36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sym typeface="+mn-ea"/>
              </a:rPr>
            </a:br>
            <a:br>
              <a:rPr lang="en-US" sz="2700" dirty="0">
                <a:latin typeface="Times New Roman" panose="02020603050405020304" pitchFamily="18" charset="0"/>
                <a:cs typeface="Times New Roman" panose="02020603050405020304" pitchFamily="18" charset="0"/>
              </a:rPr>
            </a:br>
            <a:br>
              <a:rPr lang="en-IN" altLang="en-US" sz="24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sym typeface="+mn-ea"/>
              </a:rPr>
            </a:br>
            <a:endParaRPr lang="en-IN" altLang="en-US" sz="2400" b="1" dirty="0">
              <a:ln w="0"/>
              <a:effectLst>
                <a:reflection blurRad="6350" stA="53000" endA="300" endPos="35500" dir="5400000" sy="-90000" algn="bl" rotWithShape="0"/>
              </a:effectLst>
              <a:latin typeface="Times New Roman" panose="02020603050405020304" pitchFamily="18" charset="0"/>
              <a:cs typeface="Times New Roman" panose="02020603050405020304" pitchFamily="18" charset="0"/>
              <a:sym typeface="+mn-ea"/>
            </a:endParaRPr>
          </a:p>
        </p:txBody>
      </p:sp>
      <p:pic>
        <p:nvPicPr>
          <p:cNvPr id="12292" name="Content Placeholder 5" descr="A screenshot of a computer&#10;&#10;AI-generated content may be incorrect.">
            <a:extLst>
              <a:ext uri="{FF2B5EF4-FFF2-40B4-BE49-F238E27FC236}">
                <a16:creationId xmlns:a16="http://schemas.microsoft.com/office/drawing/2014/main" id="{5A27FA58-5F95-A69D-ED00-B137B07DA330}"/>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t="35905" r="21450" b="1180"/>
          <a:stretch>
            <a:fillRect/>
          </a:stretch>
        </p:blipFill>
        <p:spPr>
          <a:xfrm>
            <a:off x="5593426" y="1260020"/>
            <a:ext cx="5966461" cy="4337959"/>
          </a:xfrm>
        </p:spPr>
      </p:pic>
      <p:pic>
        <p:nvPicPr>
          <p:cNvPr id="4" name="Content Placeholder 5" descr="A screenshot of a computer&#10;&#10;AI-generated content may be incorrect.">
            <a:extLst>
              <a:ext uri="{FF2B5EF4-FFF2-40B4-BE49-F238E27FC236}">
                <a16:creationId xmlns:a16="http://schemas.microsoft.com/office/drawing/2014/main" id="{D92D96EA-D1D5-299E-E150-48CBE90953C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0000" b="64629"/>
          <a:stretch>
            <a:fillRect/>
          </a:stretch>
        </p:blipFill>
        <p:spPr bwMode="auto">
          <a:xfrm>
            <a:off x="291291" y="2502214"/>
            <a:ext cx="4904164" cy="1853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CAF183B0-20C5-0519-C614-8A9394EC675B}"/>
              </a:ext>
            </a:extLst>
          </p:cNvPr>
          <p:cNvSpPr>
            <a:spLocks noGrp="1"/>
          </p:cNvSpPr>
          <p:nvPr>
            <p:ph type="title"/>
          </p:nvPr>
        </p:nvSpPr>
        <p:spPr>
          <a:xfrm>
            <a:off x="462742" y="18256"/>
            <a:ext cx="10515600" cy="1325562"/>
          </a:xfrm>
        </p:spPr>
        <p:txBody>
          <a:bodyPr/>
          <a:lstStyle/>
          <a:p>
            <a:r>
              <a:rPr lang="en-IN" altLang="en-US" sz="3600" b="1" dirty="0">
                <a:latin typeface="Times New Roman" panose="02020603050405020304" pitchFamily="18" charset="0"/>
                <a:cs typeface="Times New Roman" panose="02020603050405020304" pitchFamily="18" charset="0"/>
              </a:rPr>
              <a:t>RESULTS</a:t>
            </a:r>
          </a:p>
        </p:txBody>
      </p:sp>
      <p:sp>
        <p:nvSpPr>
          <p:cNvPr id="14339" name="Content Placeholder 3">
            <a:extLst>
              <a:ext uri="{FF2B5EF4-FFF2-40B4-BE49-F238E27FC236}">
                <a16:creationId xmlns:a16="http://schemas.microsoft.com/office/drawing/2014/main" id="{99D2DB5C-2BF8-1168-0DB3-BC9A5E4A230A}"/>
              </a:ext>
            </a:extLst>
          </p:cNvPr>
          <p:cNvSpPr>
            <a:spLocks noGrp="1"/>
          </p:cNvSpPr>
          <p:nvPr>
            <p:ph sz="half" idx="1"/>
          </p:nvPr>
        </p:nvSpPr>
        <p:spPr>
          <a:xfrm>
            <a:off x="1285211" y="1261282"/>
            <a:ext cx="9452552" cy="4757738"/>
          </a:xfrm>
        </p:spPr>
        <p:txBody>
          <a:bodyPr/>
          <a:lstStyle/>
          <a:p>
            <a:r>
              <a:rPr lang="en-US" altLang="en-US" sz="2400" dirty="0">
                <a:latin typeface="Times New Roman" panose="02020603050405020304" pitchFamily="18" charset="0"/>
                <a:cs typeface="Times New Roman" panose="02020603050405020304" pitchFamily="18" charset="0"/>
              </a:rPr>
              <a:t>This project successfully developed a machine learning model for sentiment analysis of text reviews using Logistic Regression.</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 The model demonstrates high accuracy and balanced performance, indicating its potential for practical applications.</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 The project highlights the importance of text preprocessing and feature extraction in natural language processing tasks.</a:t>
            </a:r>
          </a:p>
          <a:p>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 The developed sentiment analysis system can be used to automate the analysis of customer feedback, enabling businesses to gain valuable insights into customer opinions and improve their products and services.</a:t>
            </a:r>
          </a:p>
          <a:p>
            <a:endParaRPr lang="en-I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0" name="Picture 6">
            <a:extLst>
              <a:ext uri="{FF2B5EF4-FFF2-40B4-BE49-F238E27FC236}">
                <a16:creationId xmlns:a16="http://schemas.microsoft.com/office/drawing/2014/main" id="{96433A36-C7FE-9DD1-8209-B8AD0E0665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0480" y="0"/>
            <a:ext cx="835152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2">
            <a:extLst>
              <a:ext uri="{FF2B5EF4-FFF2-40B4-BE49-F238E27FC236}">
                <a16:creationId xmlns:a16="http://schemas.microsoft.com/office/drawing/2014/main" id="{1DF0FC3D-2DF1-C35A-0025-A5FAFF8C2332}"/>
              </a:ext>
            </a:extLst>
          </p:cNvPr>
          <p:cNvSpPr/>
          <p:nvPr/>
        </p:nvSpPr>
        <p:spPr>
          <a:xfrm>
            <a:off x="448888" y="2663508"/>
            <a:ext cx="3200400" cy="1338349"/>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MODEL TESTING</a:t>
            </a:r>
            <a:endParaRPr lang="en-IN" b="1" dirty="0"/>
          </a:p>
        </p:txBody>
      </p:sp>
    </p:spTree>
    <p:extLst>
      <p:ext uri="{BB962C8B-B14F-4D97-AF65-F5344CB8AC3E}">
        <p14:creationId xmlns:p14="http://schemas.microsoft.com/office/powerpoint/2010/main" val="17727729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38838-34EE-0482-368C-2C4C27E8182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1672A3C-2BEB-3FDA-9B07-660F98A36301}"/>
              </a:ext>
            </a:extLst>
          </p:cNvPr>
          <p:cNvPicPr>
            <a:picLocks noChangeAspect="1"/>
          </p:cNvPicPr>
          <p:nvPr/>
        </p:nvPicPr>
        <p:blipFill>
          <a:blip r:embed="rId2"/>
          <a:stretch>
            <a:fillRect/>
          </a:stretch>
        </p:blipFill>
        <p:spPr>
          <a:xfrm>
            <a:off x="2044115" y="1464048"/>
            <a:ext cx="7973538" cy="1219370"/>
          </a:xfrm>
          <a:prstGeom prst="rect">
            <a:avLst/>
          </a:prstGeom>
          <a:ln>
            <a:solidFill>
              <a:schemeClr val="tx1"/>
            </a:solidFill>
          </a:ln>
        </p:spPr>
      </p:pic>
      <p:pic>
        <p:nvPicPr>
          <p:cNvPr id="9" name="Picture 8">
            <a:extLst>
              <a:ext uri="{FF2B5EF4-FFF2-40B4-BE49-F238E27FC236}">
                <a16:creationId xmlns:a16="http://schemas.microsoft.com/office/drawing/2014/main" id="{BB624DBD-F503-D439-72CC-1F23DD21B272}"/>
              </a:ext>
            </a:extLst>
          </p:cNvPr>
          <p:cNvPicPr>
            <a:picLocks noChangeAspect="1"/>
          </p:cNvPicPr>
          <p:nvPr/>
        </p:nvPicPr>
        <p:blipFill>
          <a:blip r:embed="rId3"/>
          <a:srcRect l="63955"/>
          <a:stretch>
            <a:fillRect/>
          </a:stretch>
        </p:blipFill>
        <p:spPr>
          <a:xfrm>
            <a:off x="5440358" y="3155830"/>
            <a:ext cx="4606883" cy="1230385"/>
          </a:xfrm>
          <a:prstGeom prst="rect">
            <a:avLst/>
          </a:prstGeom>
          <a:ln>
            <a:solidFill>
              <a:schemeClr val="tx1"/>
            </a:solidFill>
          </a:ln>
        </p:spPr>
      </p:pic>
      <p:pic>
        <p:nvPicPr>
          <p:cNvPr id="11" name="Picture 10">
            <a:extLst>
              <a:ext uri="{FF2B5EF4-FFF2-40B4-BE49-F238E27FC236}">
                <a16:creationId xmlns:a16="http://schemas.microsoft.com/office/drawing/2014/main" id="{D9E7C8F7-ACB3-4A0B-2DD9-2A734571294A}"/>
              </a:ext>
            </a:extLst>
          </p:cNvPr>
          <p:cNvPicPr>
            <a:picLocks noChangeAspect="1"/>
          </p:cNvPicPr>
          <p:nvPr/>
        </p:nvPicPr>
        <p:blipFill>
          <a:blip r:embed="rId3"/>
          <a:srcRect r="72386"/>
          <a:stretch>
            <a:fillRect/>
          </a:stretch>
        </p:blipFill>
        <p:spPr>
          <a:xfrm>
            <a:off x="2073703" y="3155830"/>
            <a:ext cx="3366655" cy="1230385"/>
          </a:xfrm>
          <a:prstGeom prst="rect">
            <a:avLst/>
          </a:prstGeom>
          <a:ln>
            <a:solidFill>
              <a:schemeClr val="tx1"/>
            </a:solidFill>
          </a:ln>
        </p:spPr>
      </p:pic>
      <p:pic>
        <p:nvPicPr>
          <p:cNvPr id="15" name="Picture 14">
            <a:extLst>
              <a:ext uri="{FF2B5EF4-FFF2-40B4-BE49-F238E27FC236}">
                <a16:creationId xmlns:a16="http://schemas.microsoft.com/office/drawing/2014/main" id="{B8781F05-FB5F-E229-F183-370BE7D6FB94}"/>
              </a:ext>
            </a:extLst>
          </p:cNvPr>
          <p:cNvPicPr>
            <a:picLocks noChangeAspect="1"/>
          </p:cNvPicPr>
          <p:nvPr/>
        </p:nvPicPr>
        <p:blipFill>
          <a:blip r:embed="rId4"/>
          <a:stretch>
            <a:fillRect/>
          </a:stretch>
        </p:blipFill>
        <p:spPr>
          <a:xfrm>
            <a:off x="5531761" y="4915887"/>
            <a:ext cx="4515480" cy="1230385"/>
          </a:xfrm>
          <a:prstGeom prst="rect">
            <a:avLst/>
          </a:prstGeom>
          <a:ln>
            <a:solidFill>
              <a:schemeClr val="tx1"/>
            </a:solidFill>
          </a:ln>
        </p:spPr>
      </p:pic>
      <p:pic>
        <p:nvPicPr>
          <p:cNvPr id="16" name="Picture 15">
            <a:extLst>
              <a:ext uri="{FF2B5EF4-FFF2-40B4-BE49-F238E27FC236}">
                <a16:creationId xmlns:a16="http://schemas.microsoft.com/office/drawing/2014/main" id="{248F3FF7-DDA3-A1ED-4073-303013A2861A}"/>
              </a:ext>
            </a:extLst>
          </p:cNvPr>
          <p:cNvPicPr>
            <a:picLocks noChangeAspect="1"/>
          </p:cNvPicPr>
          <p:nvPr/>
        </p:nvPicPr>
        <p:blipFill>
          <a:blip r:embed="rId3"/>
          <a:srcRect r="72386"/>
          <a:stretch>
            <a:fillRect/>
          </a:stretch>
        </p:blipFill>
        <p:spPr>
          <a:xfrm>
            <a:off x="2073703" y="4915887"/>
            <a:ext cx="3460866" cy="1230385"/>
          </a:xfrm>
          <a:prstGeom prst="rect">
            <a:avLst/>
          </a:prstGeom>
          <a:ln>
            <a:solidFill>
              <a:schemeClr val="tx1"/>
            </a:solidFill>
          </a:ln>
        </p:spPr>
      </p:pic>
      <p:pic>
        <p:nvPicPr>
          <p:cNvPr id="17" name="Picture 16">
            <a:extLst>
              <a:ext uri="{FF2B5EF4-FFF2-40B4-BE49-F238E27FC236}">
                <a16:creationId xmlns:a16="http://schemas.microsoft.com/office/drawing/2014/main" id="{05D813AC-975D-9D34-6FF9-E22307E77E52}"/>
              </a:ext>
            </a:extLst>
          </p:cNvPr>
          <p:cNvPicPr>
            <a:picLocks noChangeAspect="1"/>
          </p:cNvPicPr>
          <p:nvPr/>
        </p:nvPicPr>
        <p:blipFill>
          <a:blip r:embed="rId3"/>
          <a:srcRect r="72386"/>
          <a:stretch>
            <a:fillRect/>
          </a:stretch>
        </p:blipFill>
        <p:spPr>
          <a:xfrm>
            <a:off x="2026597" y="1464049"/>
            <a:ext cx="3460866" cy="1219369"/>
          </a:xfrm>
          <a:prstGeom prst="rect">
            <a:avLst/>
          </a:prstGeom>
          <a:ln>
            <a:solidFill>
              <a:schemeClr val="tx1"/>
            </a:solidFill>
          </a:ln>
        </p:spPr>
      </p:pic>
      <p:sp>
        <p:nvSpPr>
          <p:cNvPr id="20" name="Rectangle 19">
            <a:extLst>
              <a:ext uri="{FF2B5EF4-FFF2-40B4-BE49-F238E27FC236}">
                <a16:creationId xmlns:a16="http://schemas.microsoft.com/office/drawing/2014/main" id="{8904F5E2-3FD2-F474-8A00-A77CDF2B6E7C}"/>
              </a:ext>
            </a:extLst>
          </p:cNvPr>
          <p:cNvSpPr/>
          <p:nvPr/>
        </p:nvSpPr>
        <p:spPr>
          <a:xfrm>
            <a:off x="3213126" y="459204"/>
            <a:ext cx="5635516" cy="669896"/>
          </a:xfrm>
          <a:prstGeom prst="rect">
            <a:avLst/>
          </a:prstGeom>
          <a:solidFill>
            <a:schemeClr val="bg1"/>
          </a:solidFill>
          <a:ln/>
          <a:effectLst>
            <a:glow rad="228600">
              <a:srgbClr val="FF9900">
                <a:alpha val="40000"/>
              </a:srgbClr>
            </a:glow>
          </a:effectLst>
        </p:spPr>
        <p:style>
          <a:lnRef idx="3">
            <a:schemeClr val="lt1"/>
          </a:lnRef>
          <a:fillRef idx="1">
            <a:schemeClr val="dk1"/>
          </a:fillRef>
          <a:effectRef idx="1">
            <a:schemeClr val="dk1"/>
          </a:effectRef>
          <a:fontRef idx="minor">
            <a:schemeClr val="lt1"/>
          </a:fontRef>
        </p:style>
        <p:txBody>
          <a:bodyPr rtlCol="0" anchor="ctr"/>
          <a:lstStyle/>
          <a:p>
            <a:pPr algn="ctr"/>
            <a:r>
              <a:rPr lang="en-US" sz="2000" b="1" dirty="0">
                <a:ln w="3175">
                  <a:solidFill>
                    <a:schemeClr val="tx1"/>
                  </a:solidFill>
                </a:ln>
                <a:solidFill>
                  <a:srgbClr val="FF9900"/>
                </a:solidFill>
                <a:latin typeface="Arial Black" panose="020B0A04020102020204" pitchFamily="34" charset="0"/>
              </a:rPr>
              <a:t>MODEL PERFORMANCE METRICS</a:t>
            </a:r>
            <a:endParaRPr lang="en-IN" sz="2000" b="1" dirty="0">
              <a:ln w="3175">
                <a:solidFill>
                  <a:schemeClr val="tx1"/>
                </a:solidFill>
              </a:ln>
              <a:solidFill>
                <a:srgbClr val="FF9900"/>
              </a:solidFill>
              <a:latin typeface="Arial Black" panose="020B0A04020102020204" pitchFamily="34" charset="0"/>
            </a:endParaRPr>
          </a:p>
        </p:txBody>
      </p:sp>
    </p:spTree>
    <p:extLst>
      <p:ext uri="{BB962C8B-B14F-4D97-AF65-F5344CB8AC3E}">
        <p14:creationId xmlns:p14="http://schemas.microsoft.com/office/powerpoint/2010/main" val="33897979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8FB4591-E313-E0EF-E6A1-0F3CAB8B62A4}"/>
              </a:ext>
            </a:extLst>
          </p:cNvPr>
          <p:cNvSpPr txBox="1"/>
          <p:nvPr/>
        </p:nvSpPr>
        <p:spPr>
          <a:xfrm>
            <a:off x="1053639" y="1629295"/>
            <a:ext cx="10706792" cy="3806235"/>
          </a:xfrm>
          <a:prstGeom prst="rect">
            <a:avLst/>
          </a:prstGeom>
          <a:noFill/>
        </p:spPr>
        <p:txBody>
          <a:bodyPr wrap="square">
            <a:spAutoFit/>
          </a:bodyPr>
          <a:lstStyle/>
          <a:p>
            <a:pPr marL="342900" marR="146050" lvl="0" indent="-342900">
              <a:lnSpc>
                <a:spcPct val="151000"/>
              </a:lnSpc>
              <a:buAutoNum type="arabicPeriod"/>
            </a:pPr>
            <a:r>
              <a:rPr lang="en-US" b="1" dirty="0">
                <a:latin typeface="Times New Roman" panose="02020603050405020304" pitchFamily="18" charset="0"/>
                <a:ea typeface="Times New Roman" panose="02020603050405020304" pitchFamily="18" charset="0"/>
              </a:rPr>
              <a:t>Project Documentation: </a:t>
            </a:r>
          </a:p>
          <a:p>
            <a:pPr marR="146050" lvl="0">
              <a:lnSpc>
                <a:spcPct val="151000"/>
              </a:lnSpc>
            </a:pPr>
            <a:r>
              <a:rPr lang="en-US" b="1" dirty="0">
                <a:latin typeface="Times New Roman" panose="02020603050405020304" pitchFamily="18" charset="0"/>
                <a:ea typeface="Times New Roman" panose="02020603050405020304" pitchFamily="18" charset="0"/>
              </a:rPr>
              <a:t>        </a:t>
            </a:r>
            <a:r>
              <a:rPr lang="en-US" b="1" dirty="0">
                <a:solidFill>
                  <a:schemeClr val="bg2">
                    <a:lumMod val="50000"/>
                  </a:schemeClr>
                </a:solidFill>
                <a:latin typeface="Times New Roman" panose="02020603050405020304" pitchFamily="18" charset="0"/>
                <a:ea typeface="Times New Roman" panose="02020603050405020304" pitchFamily="18" charset="0"/>
                <a:hlinkClick r:id="rId2">
                  <a:extLst>
                    <a:ext uri="{A12FA001-AC4F-418D-AE19-62706E023703}">
                      <ahyp:hlinkClr xmlns:ahyp="http://schemas.microsoft.com/office/drawing/2018/hyperlinkcolor" val="tx"/>
                    </a:ext>
                  </a:extLst>
                </a:hlinkClick>
              </a:rPr>
              <a:t>https://docs.google.com/document/d/1hXjZIhnCCrmgAiRUMVIrYfOVoIv-</a:t>
            </a:r>
            <a:endParaRPr lang="en-US" b="1" dirty="0">
              <a:solidFill>
                <a:schemeClr val="bg2">
                  <a:lumMod val="50000"/>
                </a:schemeClr>
              </a:solidFill>
              <a:latin typeface="Times New Roman" panose="02020603050405020304" pitchFamily="18" charset="0"/>
              <a:ea typeface="Times New Roman" panose="02020603050405020304" pitchFamily="18" charset="0"/>
            </a:endParaRPr>
          </a:p>
          <a:p>
            <a:pPr marR="146050" lvl="0">
              <a:lnSpc>
                <a:spcPct val="151000"/>
              </a:lnSpc>
            </a:pPr>
            <a:endParaRPr lang="en-US" b="1" dirty="0">
              <a:solidFill>
                <a:schemeClr val="bg2">
                  <a:lumMod val="50000"/>
                </a:schemeClr>
              </a:solidFill>
              <a:latin typeface="Times New Roman" panose="02020603050405020304" pitchFamily="18" charset="0"/>
              <a:ea typeface="Times New Roman" panose="02020603050405020304" pitchFamily="18" charset="0"/>
            </a:endParaRPr>
          </a:p>
          <a:p>
            <a:pPr marR="146050" lvl="0">
              <a:lnSpc>
                <a:spcPct val="151000"/>
              </a:lnSpc>
            </a:pPr>
            <a:r>
              <a:rPr lang="en-US" sz="1800" b="1" dirty="0">
                <a:effectLst/>
                <a:latin typeface="Times New Roman" panose="02020603050405020304" pitchFamily="18" charset="0"/>
                <a:ea typeface="Times New Roman" panose="02020603050405020304" pitchFamily="18" charset="0"/>
              </a:rPr>
              <a:t>2.   IMDb Sentiment Analysis Dataset</a:t>
            </a:r>
            <a:endParaRPr lang="en-IN" sz="1800" dirty="0">
              <a:effectLst/>
              <a:latin typeface="Times New Roman" panose="02020603050405020304" pitchFamily="18" charset="0"/>
              <a:ea typeface="Times New Roman" panose="02020603050405020304" pitchFamily="18" charset="0"/>
            </a:endParaRPr>
          </a:p>
          <a:p>
            <a:pPr marL="457200" marR="146050">
              <a:lnSpc>
                <a:spcPct val="151000"/>
              </a:lnSpc>
              <a:buNone/>
            </a:pPr>
            <a:r>
              <a:rPr lang="en-US" sz="1800" b="1" dirty="0">
                <a:effectLst/>
                <a:latin typeface="Times New Roman" panose="02020603050405020304" pitchFamily="18" charset="0"/>
                <a:ea typeface="Times New Roman" panose="02020603050405020304" pitchFamily="18" charset="0"/>
              </a:rPr>
              <a:t>Kaggle dataset with 50,000 labeled reviews for binary classification</a:t>
            </a:r>
            <a:endParaRPr lang="en-IN" sz="1800" dirty="0">
              <a:effectLst/>
              <a:latin typeface="Times New Roman" panose="02020603050405020304" pitchFamily="18" charset="0"/>
              <a:ea typeface="Times New Roman" panose="02020603050405020304" pitchFamily="18" charset="0"/>
            </a:endParaRPr>
          </a:p>
          <a:p>
            <a:pPr marL="457200" marR="146050">
              <a:lnSpc>
                <a:spcPct val="151000"/>
              </a:lnSpc>
              <a:buNone/>
            </a:pPr>
            <a:r>
              <a:rPr lang="en-US" sz="1800" b="1" u="sng" dirty="0">
                <a:solidFill>
                  <a:schemeClr val="bg2">
                    <a:lumMod val="50000"/>
                  </a:schemeClr>
                </a:solidFill>
                <a:effectLst/>
                <a:latin typeface="Times New Roman" panose="02020603050405020304" pitchFamily="18" charset="0"/>
                <a:ea typeface="Times New Roman" panose="02020603050405020304" pitchFamily="18" charset="0"/>
              </a:rPr>
              <a:t>kaggle.com/datasets/lakshmi25npathi/imdb-dataset-of-50k-movie-reviews</a:t>
            </a:r>
            <a:endParaRPr lang="en-IN" sz="1800" dirty="0">
              <a:solidFill>
                <a:schemeClr val="bg2">
                  <a:lumMod val="50000"/>
                </a:schemeClr>
              </a:solidFill>
              <a:effectLst/>
              <a:latin typeface="Times New Roman" panose="02020603050405020304" pitchFamily="18" charset="0"/>
              <a:ea typeface="Times New Roman" panose="02020603050405020304" pitchFamily="18" charset="0"/>
            </a:endParaRPr>
          </a:p>
          <a:p>
            <a:pPr marL="0" marR="146050">
              <a:lnSpc>
                <a:spcPct val="151000"/>
              </a:lnSpc>
              <a:buNone/>
            </a:pPr>
            <a:r>
              <a:rPr lang="en-US"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342900" marR="146050" lvl="0" indent="-342900">
              <a:lnSpc>
                <a:spcPct val="151000"/>
              </a:lnSpc>
              <a:buFont typeface="+mj-lt"/>
              <a:buAutoNum type="arabicPeriod" startAt="3"/>
            </a:pPr>
            <a:r>
              <a:rPr lang="en-US" sz="1800" b="1" dirty="0">
                <a:effectLst/>
                <a:latin typeface="Times New Roman" panose="02020603050405020304" pitchFamily="18" charset="0"/>
                <a:ea typeface="Times New Roman" panose="02020603050405020304" pitchFamily="18" charset="0"/>
              </a:rPr>
              <a:t>Complete ML Project in Google </a:t>
            </a:r>
            <a:r>
              <a:rPr lang="en-US" sz="1800" b="1" dirty="0" err="1">
                <a:effectLst/>
                <a:latin typeface="Times New Roman" panose="02020603050405020304" pitchFamily="18" charset="0"/>
                <a:ea typeface="Times New Roman" panose="02020603050405020304" pitchFamily="18" charset="0"/>
              </a:rPr>
              <a:t>Colab</a:t>
            </a:r>
            <a:r>
              <a:rPr lang="en-US" sz="1800" b="1" dirty="0">
                <a:effectLst/>
                <a:latin typeface="Times New Roman" panose="02020603050405020304" pitchFamily="18" charset="0"/>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pPr marL="457200" marR="146050">
              <a:lnSpc>
                <a:spcPct val="151000"/>
              </a:lnSpc>
              <a:buNone/>
            </a:pPr>
            <a:r>
              <a:rPr lang="en-US" sz="1800" b="1" u="sng" dirty="0">
                <a:solidFill>
                  <a:schemeClr val="bg2">
                    <a:lumMod val="50000"/>
                  </a:schemeClr>
                </a:solidFill>
                <a:effectLst/>
                <a:latin typeface="Times New Roman" panose="02020603050405020304" pitchFamily="18" charset="0"/>
                <a:ea typeface="Times New Roman" panose="02020603050405020304" pitchFamily="18" charset="0"/>
                <a:hlinkClick r:id="rId3">
                  <a:extLst>
                    <a:ext uri="{A12FA001-AC4F-418D-AE19-62706E023703}">
                      <ahyp:hlinkClr xmlns:ahyp="http://schemas.microsoft.com/office/drawing/2018/hyperlinkcolor" val="tx"/>
                    </a:ext>
                  </a:extLst>
                </a:hlinkClick>
              </a:rPr>
              <a:t>https://colab.research.google.com/drive/1TZ0KP-_Vhte9eLcfXl-L7lPcNnvAA0OU?usp=sharing</a:t>
            </a:r>
            <a:endParaRPr lang="en-IN" sz="1800" dirty="0">
              <a:solidFill>
                <a:schemeClr val="bg2">
                  <a:lumMod val="50000"/>
                </a:schemeClr>
              </a:solidFill>
              <a:effectLst/>
              <a:latin typeface="Times New Roman" panose="02020603050405020304" pitchFamily="18" charset="0"/>
              <a:ea typeface="Times New Roman" panose="02020603050405020304" pitchFamily="18" charset="0"/>
            </a:endParaRPr>
          </a:p>
        </p:txBody>
      </p:sp>
      <p:sp>
        <p:nvSpPr>
          <p:cNvPr id="8" name="TextBox 7">
            <a:extLst>
              <a:ext uri="{FF2B5EF4-FFF2-40B4-BE49-F238E27FC236}">
                <a16:creationId xmlns:a16="http://schemas.microsoft.com/office/drawing/2014/main" id="{8E2C4E92-E114-3D04-9435-97A764BBEEA0}"/>
              </a:ext>
            </a:extLst>
          </p:cNvPr>
          <p:cNvSpPr txBox="1"/>
          <p:nvPr/>
        </p:nvSpPr>
        <p:spPr>
          <a:xfrm>
            <a:off x="1053639" y="700638"/>
            <a:ext cx="6097384" cy="584775"/>
          </a:xfrm>
          <a:prstGeom prst="rect">
            <a:avLst/>
          </a:prstGeom>
          <a:noFill/>
        </p:spPr>
        <p:txBody>
          <a:bodyPr wrap="square">
            <a:spAutoFit/>
          </a:bodyPr>
          <a:lstStyle/>
          <a:p>
            <a:r>
              <a:rPr lang="en-US" sz="3200" b="1" dirty="0"/>
              <a:t>REFERENCE LINKS:</a:t>
            </a:r>
            <a:endParaRPr lang="en-IN" sz="3200" b="1" dirty="0"/>
          </a:p>
        </p:txBody>
      </p:sp>
    </p:spTree>
    <p:extLst>
      <p:ext uri="{BB962C8B-B14F-4D97-AF65-F5344CB8AC3E}">
        <p14:creationId xmlns:p14="http://schemas.microsoft.com/office/powerpoint/2010/main" val="3614307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F4CA94-E4F4-A3E2-2451-AC43F0540E93}"/>
              </a:ext>
            </a:extLst>
          </p:cNvPr>
          <p:cNvSpPr/>
          <p:nvPr/>
        </p:nvSpPr>
        <p:spPr>
          <a:xfrm>
            <a:off x="2189018" y="2202873"/>
            <a:ext cx="7813963" cy="1723549"/>
          </a:xfrm>
          <a:prstGeom prst="rect">
            <a:avLst/>
          </a:prstGeom>
          <a:noFill/>
        </p:spPr>
        <p:txBody>
          <a:bodyPr wrap="square" lIns="91440" tIns="45720" rIns="91440" bIns="45720">
            <a:spAutoFit/>
          </a:bodyPr>
          <a:lstStyle/>
          <a:p>
            <a:pPr algn="ctr"/>
            <a:r>
              <a:rPr lang="en-US" sz="80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 </a:t>
            </a:r>
            <a:r>
              <a:rPr lang="en-US" sz="88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THANK YOU!</a:t>
            </a:r>
          </a:p>
          <a:p>
            <a:pPr algn="ctr"/>
            <a:r>
              <a:rPr lang="en-US"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  For your attention  ---------------</a:t>
            </a:r>
            <a:endParaRPr lang="en-US"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Tree>
    <p:extLst>
      <p:ext uri="{BB962C8B-B14F-4D97-AF65-F5344CB8AC3E}">
        <p14:creationId xmlns:p14="http://schemas.microsoft.com/office/powerpoint/2010/main" val="1521478209"/>
      </p:ext>
    </p:extLst>
  </p:cSld>
  <p:clrMapOvr>
    <a:masterClrMapping/>
  </p:clrMapOvr>
</p:sld>
</file>

<file path=ppt/theme/theme1.xml><?xml version="1.0" encoding="utf-8"?>
<a:theme xmlns:a="http://schemas.openxmlformats.org/drawingml/2006/main" name="1_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1904</TotalTime>
  <Words>1938</Words>
  <Application>Microsoft Office PowerPoint</Application>
  <PresentationFormat>Widescreen</PresentationFormat>
  <Paragraphs>164</Paragraphs>
  <Slides>30</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Arial Black</vt:lpstr>
      <vt:lpstr>Calibri</vt:lpstr>
      <vt:lpstr>Calibri Light</vt:lpstr>
      <vt:lpstr>Times New Roman</vt:lpstr>
      <vt:lpstr>1_Office Theme</vt:lpstr>
      <vt:lpstr>PowerPoint Presentation</vt:lpstr>
      <vt:lpstr>ABSTRACT:-</vt:lpstr>
      <vt:lpstr>OBJECTIVES:-</vt:lpstr>
      <vt:lpstr>RELATED WORK:-</vt:lpstr>
      <vt:lpstr>PowerPoint Presentation</vt:lpstr>
      <vt:lpstr>PowerPoint Presentation</vt:lpstr>
      <vt:lpstr>METHODOLOGY:- </vt:lpstr>
      <vt:lpstr>METHODOLOGY:- </vt:lpstr>
      <vt:lpstr>METHODOLOGY:- </vt:lpstr>
      <vt:lpstr>METHODOLOGY:- </vt:lpstr>
      <vt:lpstr>METHODOLOGY:- </vt:lpstr>
      <vt:lpstr>METHODOLOGY:- </vt:lpstr>
      <vt:lpstr>METHODOLOGY:- </vt:lpstr>
      <vt:lpstr>METHODOLOGY:- </vt:lpstr>
      <vt:lpstr>METHODOLOGY:- </vt:lpstr>
      <vt:lpstr>METHODOLOGY        cont…. </vt:lpstr>
      <vt:lpstr>PowerPoint Presentation</vt:lpstr>
      <vt:lpstr>PowerPoint Presentation</vt:lpstr>
      <vt:lpstr>PowerPoint Presentation</vt:lpstr>
      <vt:lpstr>PowerPoint Presentation</vt:lpstr>
      <vt:lpstr>PowerPoint Presentation</vt:lpstr>
      <vt:lpstr>PowerPoint Presentation</vt:lpstr>
      <vt:lpstr> REQUIREMENTS:-  </vt:lpstr>
      <vt:lpstr> IMPLEMENTATION:-   </vt:lpstr>
      <vt:lpstr> IMPLEMENTATION:-   </vt:lpstr>
      <vt:lpstr>RESULTS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Perabattula Veera Pavan Kumar</dc:creator>
  <cp:lastModifiedBy>Bala Vardhan Kumar Doupati</cp:lastModifiedBy>
  <cp:revision>503</cp:revision>
  <dcterms:created xsi:type="dcterms:W3CDTF">2014-01-22T17:29:00Z</dcterms:created>
  <dcterms:modified xsi:type="dcterms:W3CDTF">2025-10-29T13:58:02Z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1033-11.2.0.9937</vt:lpwstr>
  </property>
</Properties>
</file>